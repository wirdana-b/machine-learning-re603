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8"/>
  </p:notesMasterIdLst>
  <p:sldIdLst>
    <p:sldId id="257" r:id="rId2"/>
    <p:sldId id="295" r:id="rId3"/>
    <p:sldId id="258" r:id="rId4"/>
    <p:sldId id="296" r:id="rId5"/>
    <p:sldId id="260" r:id="rId6"/>
    <p:sldId id="28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20" r:id="rId30"/>
    <p:sldId id="321" r:id="rId31"/>
    <p:sldId id="322" r:id="rId32"/>
    <p:sldId id="323" r:id="rId33"/>
    <p:sldId id="324" r:id="rId34"/>
    <p:sldId id="280" r:id="rId35"/>
    <p:sldId id="279" r:id="rId36"/>
    <p:sldId id="281" r:id="rId37"/>
  </p:sldIdLst>
  <p:sldSz cx="18288000" cy="10287000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Montserrat" panose="00000500000000000000" pitchFamily="2" charset="0"/>
      <p:regular r:id="rId43"/>
      <p:bold r:id="rId44"/>
      <p:italic r:id="rId45"/>
      <p:boldItalic r:id="rId46"/>
    </p:embeddedFont>
    <p:embeddedFont>
      <p:font typeface="Montserrat Classic" panose="020B0604020202020204" charset="0"/>
      <p:regular r:id="rId47"/>
    </p:embeddedFont>
    <p:embeddedFont>
      <p:font typeface="Montserrat Classic Bold" panose="020B0604020202020204" charset="0"/>
      <p:regular r:id="rId48"/>
    </p:embeddedFont>
    <p:embeddedFont>
      <p:font typeface="Open Sans Extra Bold" panose="020B0604020202020204" charset="0"/>
      <p:regular r:id="rId49"/>
    </p:embeddedFont>
    <p:embeddedFont>
      <p:font typeface="Raleway" pitchFamily="2" charset="0"/>
      <p:regular r:id="rId50"/>
      <p:bold r:id="rId51"/>
      <p:italic r:id="rId52"/>
      <p:boldItalic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8641" autoAdjust="0"/>
  </p:normalViewPr>
  <p:slideViewPr>
    <p:cSldViewPr>
      <p:cViewPr varScale="1">
        <p:scale>
          <a:sx n="44" d="100"/>
          <a:sy n="44" d="100"/>
        </p:scale>
        <p:origin x="1282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3E965-B06B-C8CC-7198-BC92C459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6C295-3D65-6D88-8454-544343FC8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66F0A-872B-73BF-CF95-EF5B05BD4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DB5C-CEBB-E4EB-2031-471D5CB90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12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33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BCA64-208D-594B-40FD-6EC644D6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156DF-316C-AA5A-4FA6-0828E7C3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8DD62-AB17-03C7-EA6E-7D02C77C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2A652-1351-1DF7-20A9-320192BCA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EE39-37F4-19B4-3FB5-5D9AB999E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52F0B-C179-7D2C-99D1-CC0F4EFCE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1770C-A791-E849-77D0-11D12DC1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7B76-6A9F-F51C-DF4E-19B48E173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6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9928F-C107-2408-1121-EAAE7EFD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1067A-43D5-F36D-C54B-E9112727C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B1CC6-6FB0-B4F2-4CE8-788AEC3A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57B11-AC82-C3E8-C978-3F612AC24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20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9E01-17B8-212E-F595-2BA1585F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EA99E-C0FF-9EE5-012D-47A15E66B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70E90-FE4A-8157-4AF3-D826F3B97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2B354-A61D-657D-3CD6-F161BD7D8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77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0E9B8-B2B0-794C-E2D2-B549FA6E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7DF6A-0F56-4D35-DECE-49CDF66B1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74C06-23D2-B99E-E318-032234B4D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8F163-0FFC-2D28-60B7-25E0111D1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12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2C1A-137F-E719-AB4D-C9AE50EC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CC133-EB8E-4A09-24DC-78AE535B0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B6F2C-033F-710C-5C1D-79E8E5570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0436E-8876-6256-1C7D-FC01B82E3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7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B597-CC61-4EB7-29B9-A27B66BB5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94AB5-2183-DE44-0CEA-24E7AA295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FC34B-8D42-5571-98FF-B1C4A9C3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36F77-34A9-9D0E-A5AE-A11ED1FFC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30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BC9C-A198-97A3-D7AD-7A665BE1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69C81-A05E-AFA2-CFA8-4096BED3E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51283-2720-EDCF-FAFB-796946F56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E629E-426F-09D1-44A7-33544BCC4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6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E0BCE-1872-7C8B-7ED5-84F0DC7F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163F7-5F5D-207E-E746-DD4E2B5A2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3801F1-9952-0347-8D15-D2156918D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9064-D7ED-0C7C-98FF-D3137F02E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68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5ACD-67EC-8F37-2F05-D157067C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75EF5-0528-09D6-68DF-366F146F6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5B1DE-1CEC-F4AA-B379-ED33AD48C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273E6-D91B-C01C-8834-A50D1C301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105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6318-26EB-A4B8-C94E-4FD071BB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E5564-09BD-75F7-24DF-C647D581E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A3A59-0E83-5C8D-5136-B9615D892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79005-F1C3-21C9-2534-23B383AB5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55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0B90-478A-358D-B670-E0F0DFB4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72C1C-5520-B727-1AA0-717E302FD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F3B6A-7C3E-CD5A-A6E9-7D32A051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02ADD-49EF-0D78-4044-93FD6986D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60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0BA8-6255-BAA6-0D58-BF584E3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202CE-6BD5-D5B9-C726-1FAB654C2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46CAA-8C9C-485F-EB6A-3B7CF3085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CEC91-51BD-AA5A-CB15-7BB86DA86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84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F6EAB-F94F-696A-44F7-974708C7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71EC6-7A01-69CD-35D3-26D29F192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E4CA8-56E7-7EF0-EE6F-567C2A2DF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4B5E0-3A23-A828-17DB-B4DF8CC78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7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D0F9-44B1-43E1-B316-C2972EDC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DB31F-3FC9-22F5-C14B-5B8013E5E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038B1-7253-B599-B0E2-B76D3620B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C2275-ABEE-620A-8069-0AB35EED2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828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216F-5BAB-22EE-8BD2-1DC6379B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DE767-2A80-1162-B041-6B64C173E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97EB2-966D-B2C8-4DA3-777AB6CBF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AAEFB-F93F-2313-5580-996650493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75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6C13-C776-CD60-1C1D-801C6B0DC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40B82-8D9C-BB72-1209-61678DE21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C665F-C7BD-A0E0-425B-969AF9039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1767A-56C8-C07A-E46A-E5110A5ED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89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723C-DE9E-E9E1-3425-185C0464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D2AEC-F2B1-9114-9F77-3097BE877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23F1E-9264-D55D-719F-55C597D67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1F89A-BB12-35BF-8E05-3A8D7ACB1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164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7557-B00D-480C-71AC-5B01D104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F18B9-3961-3474-EEF3-45C80F94E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74FE5-E4CF-4F29-36FA-03EBCBA66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AA6E6-F1FE-7849-04E7-C3C8ACA1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3A02-6EAC-F758-6C2B-B1054F27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8C939-6DB1-ADFA-06FE-98D59098F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A5D0D-95BF-1404-00EE-BE8938328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1D651-73C5-F1FC-4D77-06788B334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19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FE1EA-FA77-0206-52A8-A5690DD5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102DB-4807-9163-B2E5-468FB10EA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49990-9201-D29C-020A-97665E916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90C27-E07B-08C5-51AC-A3D14AB9E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90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9257-512A-8CB5-0DE5-3CBA09E5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0E878-1506-E057-3A80-972D47A8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9F175-642E-64AA-2201-C9054E667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6519B-8EF6-9E9F-2914-9F6C24F2F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876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F0D7-2A81-B5CF-6866-A33B716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BDB61-0C2A-FD4E-06E4-33C72B4D5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B9331-07EB-92DA-1FEA-DF7AB0569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AA27F-5DD2-C7ED-37F1-9049F98ED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197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390E-DD2D-EB68-09CD-08CF7E12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11A7F-0EC1-2234-8A3B-619D26959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3239F-A3F1-3314-8334-9F0F26256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C48BE-B5E2-D0FD-D8C0-26BF9DEEB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643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F5FD-6071-C7AB-48E8-C002BEED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ACA41-298A-7C93-FDB8-08D963043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DE47E-FE6E-3227-B962-AD986DA1E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3B57C-4713-54E7-4EB9-AAB4347BE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009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8151-FA91-39D7-5A45-5D6018462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D39B3-0480-5D31-F06D-74361CCC7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64E2D-0B6F-7F8C-8A4C-3B4A7107D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D1746-F1B6-DB4F-62BB-563B47B6E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099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70C8-9A34-CB0D-3CEA-63108D53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377F3-2FC0-D39F-0006-46CA6761B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AE8FB-261A-1B6E-D1D0-4F16D7AAC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5C804-DEA1-5549-9DF5-C7A88B249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990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4EB0-CBB3-0570-63A4-6541BA06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FFE9E-0FE8-FAC7-8D4C-08214A2B7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4A525-7D16-3DA5-7AB4-BE13372D3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54DB-2D04-2991-9C08-74FF55CDB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073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D984-A64D-0409-E690-7F851602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FD2E4-B67F-36B5-0ACC-FA93720EB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68C9E-F2DA-6C0C-1DEC-D3DB3003B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BD24A-9969-27E3-E5FD-F995BDE3B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051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49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hyperlink" Target="https://www.python.org/downloads/" TargetMode="External"/><Relationship Id="rId4" Type="http://schemas.openxmlformats.org/officeDocument/2006/relationships/hyperlink" Target="https://code.visualstudio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drive/1kR5aArRY6u577woE87JLszC6e4IxqGw4#scrollTo=b1STBxiLtvT1" TargetMode="External"/><Relationship Id="rId13" Type="http://schemas.openxmlformats.org/officeDocument/2006/relationships/image" Target="../media/image43.png"/><Relationship Id="rId3" Type="http://schemas.openxmlformats.org/officeDocument/2006/relationships/hyperlink" Target="https://colab.research.google.com/drive/1kR5aArRY6u577woE87JLszC6e4IxqGw4#scrollTo=vanAsL--v8HE" TargetMode="External"/><Relationship Id="rId7" Type="http://schemas.openxmlformats.org/officeDocument/2006/relationships/image" Target="../media/image40.png"/><Relationship Id="rId12" Type="http://schemas.openxmlformats.org/officeDocument/2006/relationships/hyperlink" Target="https://colab.research.google.com/drive/1kR5aArRY6u577woE87JLszC6e4IxqGw4#scrollTo=HdCwGVXbvmh1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lab.research.google.com/drive/1kR5aArRY6u577woE87JLszC6e4IxqGw4#scrollTo=ae43q6jZtYiZ" TargetMode="External"/><Relationship Id="rId11" Type="http://schemas.openxmlformats.org/officeDocument/2006/relationships/image" Target="../media/image42.png"/><Relationship Id="rId5" Type="http://schemas.openxmlformats.org/officeDocument/2006/relationships/image" Target="../media/image2.png"/><Relationship Id="rId10" Type="http://schemas.openxmlformats.org/officeDocument/2006/relationships/hyperlink" Target="https://colab.research.google.com/drive/1kR5aArRY6u577woE87JLszC6e4IxqGw4#scrollTo=Y1lOfMZXuoHN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41.png"/><Relationship Id="rId1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hyperlink" Target="https://colab.research.google.com/drive/1kR5aArRY6u577woE87JLszC6e4IxqGw4?usp=sharing" TargetMode="Externa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hyperlink" Target="https://colab.research.google.com/drive/1kR5aArRY6u577woE87JLszC6e4IxqGw4#scrollTo=LYlyWXCX25vL&amp;line=1&amp;uniqifier=1" TargetMode="Externa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hyperlink" Target="https://colab.research.google.com/drive/1kR5aArRY6u577woE87JLszC6e4IxqGw4#scrollTo=1w574AYM6g9c" TargetMode="Externa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hyperlink" Target="https://colab.research.google.com/drive/1kR5aArRY6u577woE87JLszC6e4IxqGw4#scrollTo=DzRKyO_68-NM" TargetMode="Externa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hyperlink" Target="https://colab.research.google.com/drive/1kR5aArRY6u577woE87JLszC6e4IxqGw4#scrollTo=XVVaGKxeAkcQ" TargetMode="External"/><Relationship Id="rId7" Type="http://schemas.openxmlformats.org/officeDocument/2006/relationships/hyperlink" Target="https://colab.research.google.com/drive/1kR5aArRY6u577woE87JLszC6e4IxqGw4#scrollTo=oP2SVkKqA2Bz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953969"/>
            <a:ext cx="18288000" cy="11240970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831614"/>
            <a:ext cx="18288000" cy="455385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8589" y="2325267"/>
            <a:ext cx="13795173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 – Introduction and Data Types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694049"/>
            <a:ext cx="8807132" cy="18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2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0593" y="7475884"/>
            <a:ext cx="9753969" cy="45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Presented by : Naurah Nazhifah, </a:t>
            </a: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S.Kom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., M.C.S(AI).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31761-2351-7FDA-9209-1F8634E3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522C4794-A486-3B49-0561-A76848DB7859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CAC3FD-55C5-A462-7DF1-4A2F0D5283FB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7899235-F97B-C1E4-58FE-5410B17BB23E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6A17FCFC-73F2-82CD-243D-B528CBB22F3B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8556F7C-0702-88EE-75CE-22AFD25C0FB4}"/>
              </a:ext>
            </a:extLst>
          </p:cNvPr>
          <p:cNvSpPr txBox="1"/>
          <p:nvPr/>
        </p:nvSpPr>
        <p:spPr>
          <a:xfrm>
            <a:off x="1469115" y="1497717"/>
            <a:ext cx="11402445" cy="93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58"/>
              </a:lnSpc>
              <a:spcBef>
                <a:spcPct val="0"/>
              </a:spcBef>
            </a:pPr>
            <a:r>
              <a:rPr lang="en-US" sz="6131" b="1" spc="220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Course Learning Outcome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6B652EF-C76B-C641-F95D-C0D99A00A025}"/>
              </a:ext>
            </a:extLst>
          </p:cNvPr>
          <p:cNvSpPr txBox="1"/>
          <p:nvPr/>
        </p:nvSpPr>
        <p:spPr>
          <a:xfrm>
            <a:off x="1469114" y="2787907"/>
            <a:ext cx="11402445" cy="5744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3621" lvl="1" indent="-286810" algn="just">
              <a:lnSpc>
                <a:spcPct val="150000"/>
              </a:lnSpc>
              <a:buFont typeface="Arial"/>
              <a:buChar char="•"/>
            </a:pPr>
            <a:r>
              <a:rPr lang="en-US" sz="28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Students are able to explain the comparison of Python with other programming languages</a:t>
            </a:r>
          </a:p>
          <a:p>
            <a:pPr marL="573621" lvl="1" indent="-286810" algn="just">
              <a:lnSpc>
                <a:spcPct val="150000"/>
              </a:lnSpc>
              <a:buFont typeface="Arial"/>
              <a:buChar char="•"/>
            </a:pPr>
            <a:r>
              <a:rPr lang="en-US" sz="28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Students are able to create simple programs with Python with a python programming editor/platform</a:t>
            </a:r>
          </a:p>
          <a:p>
            <a:pPr marL="573621" lvl="1" indent="-286810" algn="just">
              <a:lnSpc>
                <a:spcPct val="150000"/>
              </a:lnSpc>
              <a:buFont typeface="Arial"/>
              <a:buChar char="•"/>
            </a:pPr>
            <a:r>
              <a:rPr lang="en-US" sz="28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Students are able to express the differences between primitive data types and non-primitive data types</a:t>
            </a:r>
          </a:p>
          <a:p>
            <a:pPr marL="573621" lvl="1" indent="-286810" algn="just">
              <a:lnSpc>
                <a:spcPct val="150000"/>
              </a:lnSpc>
              <a:buFont typeface="Arial"/>
              <a:buChar char="•"/>
            </a:pPr>
            <a:r>
              <a:rPr lang="en-US" sz="28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Students are able to explain the differences between list, tuple, dictionary, and set data types</a:t>
            </a:r>
          </a:p>
          <a:p>
            <a:pPr marL="573621" lvl="1" indent="-286810" algn="just">
              <a:lnSpc>
                <a:spcPct val="150000"/>
              </a:lnSpc>
              <a:buFont typeface="Arial"/>
              <a:buChar char="•"/>
            </a:pPr>
            <a:r>
              <a:rPr lang="en-US" sz="28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Students are able to perform data conversion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B994E3D-97DA-9211-E4C4-79E5C9406E5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7643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364" y="3665888"/>
            <a:ext cx="526554" cy="532663"/>
            <a:chOff x="0" y="0"/>
            <a:chExt cx="119806" cy="1211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3364" y="4527551"/>
            <a:ext cx="526554" cy="532663"/>
            <a:chOff x="0" y="0"/>
            <a:chExt cx="119806" cy="1211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283364" y="1276354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Table of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47849" y="3631157"/>
            <a:ext cx="9307394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Python Language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47849" y="4504092"/>
            <a:ext cx="7789172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Platform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3364" y="2025062"/>
            <a:ext cx="5444548" cy="103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Contents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4D2291AF-CCAB-7DB4-5944-C41FE399F6BC}"/>
              </a:ext>
            </a:extLst>
          </p:cNvPr>
          <p:cNvGrpSpPr/>
          <p:nvPr/>
        </p:nvGrpSpPr>
        <p:grpSpPr>
          <a:xfrm>
            <a:off x="1277237" y="5293119"/>
            <a:ext cx="526554" cy="532663"/>
            <a:chOff x="0" y="0"/>
            <a:chExt cx="119806" cy="121196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521276A-988D-E116-3D98-51C213076295}"/>
                </a:ext>
              </a:extLst>
            </p:cNvPr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D57F380B-C686-3972-02CE-60BCAE7D8B3A}"/>
                </a:ext>
              </a:extLst>
            </p:cNvPr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03</a:t>
              </a:r>
            </a:p>
          </p:txBody>
        </p:sp>
      </p:grpSp>
      <p:sp>
        <p:nvSpPr>
          <p:cNvPr id="25" name="TextBox 20">
            <a:extLst>
              <a:ext uri="{FF2B5EF4-FFF2-40B4-BE49-F238E27FC236}">
                <a16:creationId xmlns:a16="http://schemas.microsoft.com/office/drawing/2014/main" id="{06E53E80-1BE2-0C1D-5D74-E883A9DD5406}"/>
              </a:ext>
            </a:extLst>
          </p:cNvPr>
          <p:cNvSpPr txBox="1"/>
          <p:nvPr/>
        </p:nvSpPr>
        <p:spPr>
          <a:xfrm>
            <a:off x="1941722" y="5269660"/>
            <a:ext cx="7789172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Python Data Types</a:t>
            </a:r>
          </a:p>
        </p:txBody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D2E882E2-6DB2-89E1-4F59-0D2E43A4A277}"/>
              </a:ext>
            </a:extLst>
          </p:cNvPr>
          <p:cNvGrpSpPr/>
          <p:nvPr/>
        </p:nvGrpSpPr>
        <p:grpSpPr>
          <a:xfrm>
            <a:off x="1277237" y="5882443"/>
            <a:ext cx="526554" cy="700115"/>
            <a:chOff x="0" y="-38100"/>
            <a:chExt cx="119806" cy="159296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C2BF902-9F9C-57CA-1784-1712F7E6EDCA}"/>
                </a:ext>
              </a:extLst>
            </p:cNvPr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0640FEEC-0988-9E6A-8E1E-367D7D4BB112}"/>
                </a:ext>
              </a:extLst>
            </p:cNvPr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04</a:t>
              </a:r>
            </a:p>
          </p:txBody>
        </p:sp>
      </p:grpSp>
      <p:sp>
        <p:nvSpPr>
          <p:cNvPr id="26" name="TextBox 20">
            <a:extLst>
              <a:ext uri="{FF2B5EF4-FFF2-40B4-BE49-F238E27FC236}">
                <a16:creationId xmlns:a16="http://schemas.microsoft.com/office/drawing/2014/main" id="{7B7914BA-5B09-972B-DDB9-DFA0EB4A2B35}"/>
              </a:ext>
            </a:extLst>
          </p:cNvPr>
          <p:cNvSpPr txBox="1"/>
          <p:nvPr/>
        </p:nvSpPr>
        <p:spPr>
          <a:xfrm>
            <a:off x="1941722" y="6026436"/>
            <a:ext cx="7789172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Data Type Conversion</a:t>
            </a:r>
          </a:p>
        </p:txBody>
      </p:sp>
      <p:grpSp>
        <p:nvGrpSpPr>
          <p:cNvPr id="27" name="Group 5">
            <a:extLst>
              <a:ext uri="{FF2B5EF4-FFF2-40B4-BE49-F238E27FC236}">
                <a16:creationId xmlns:a16="http://schemas.microsoft.com/office/drawing/2014/main" id="{A7C2103F-5521-3C54-033A-374D5DAE260F}"/>
              </a:ext>
            </a:extLst>
          </p:cNvPr>
          <p:cNvGrpSpPr/>
          <p:nvPr/>
        </p:nvGrpSpPr>
        <p:grpSpPr>
          <a:xfrm>
            <a:off x="1277237" y="6786615"/>
            <a:ext cx="526554" cy="532663"/>
            <a:chOff x="0" y="0"/>
            <a:chExt cx="119806" cy="121196"/>
          </a:xfrm>
        </p:grpSpPr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5B340F55-C2BE-7B5A-96F9-246CD6EA88C7}"/>
                </a:ext>
              </a:extLst>
            </p:cNvPr>
            <p:cNvSpPr/>
            <p:nvPr/>
          </p:nvSpPr>
          <p:spPr>
            <a:xfrm>
              <a:off x="0" y="0"/>
              <a:ext cx="119806" cy="121196"/>
            </a:xfrm>
            <a:custGeom>
              <a:avLst/>
              <a:gdLst/>
              <a:ahLst/>
              <a:cxnLst/>
              <a:rect l="l" t="t" r="r" b="b"/>
              <a:pathLst>
                <a:path w="119806" h="121196">
                  <a:moveTo>
                    <a:pt x="0" y="0"/>
                  </a:moveTo>
                  <a:lnTo>
                    <a:pt x="119806" y="0"/>
                  </a:lnTo>
                  <a:lnTo>
                    <a:pt x="119806" y="121196"/>
                  </a:lnTo>
                  <a:lnTo>
                    <a:pt x="0" y="121196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7">
              <a:extLst>
                <a:ext uri="{FF2B5EF4-FFF2-40B4-BE49-F238E27FC236}">
                  <a16:creationId xmlns:a16="http://schemas.microsoft.com/office/drawing/2014/main" id="{F845C4A9-784B-5389-7C2D-5C9847219DC4}"/>
                </a:ext>
              </a:extLst>
            </p:cNvPr>
            <p:cNvSpPr txBox="1"/>
            <p:nvPr/>
          </p:nvSpPr>
          <p:spPr>
            <a:xfrm>
              <a:off x="0" y="-38100"/>
              <a:ext cx="119806" cy="159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dirty="0">
                  <a:solidFill>
                    <a:srgbClr val="FFFFFF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05</a:t>
              </a:r>
            </a:p>
          </p:txBody>
        </p:sp>
      </p:grpSp>
      <p:sp>
        <p:nvSpPr>
          <p:cNvPr id="30" name="TextBox 20">
            <a:extLst>
              <a:ext uri="{FF2B5EF4-FFF2-40B4-BE49-F238E27FC236}">
                <a16:creationId xmlns:a16="http://schemas.microsoft.com/office/drawing/2014/main" id="{CE9C1E08-8CF3-D872-636C-88C231BE8DB7}"/>
              </a:ext>
            </a:extLst>
          </p:cNvPr>
          <p:cNvSpPr txBox="1"/>
          <p:nvPr/>
        </p:nvSpPr>
        <p:spPr>
          <a:xfrm>
            <a:off x="1941722" y="6763156"/>
            <a:ext cx="7789172" cy="52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3056" spc="91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Closing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0C95-391A-ECE0-4220-0A67BC93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D2E28836-9BDE-E507-ED94-5DAEAAFA03A3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A20D288-7B8A-F56A-3B7A-93040B6FE4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0E4F602-BE61-32AC-3A2A-DC7A0E8CBE2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40C6B349-0A52-D732-A8B2-D483A18DDD9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B7651D6-B13F-E297-4DCE-0660B56FF625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0B16D179-A1F2-EA78-3F84-DD4A23798C8B}"/>
              </a:ext>
            </a:extLst>
          </p:cNvPr>
          <p:cNvSpPr txBox="1"/>
          <p:nvPr/>
        </p:nvSpPr>
        <p:spPr>
          <a:xfrm>
            <a:off x="1259652" y="5143500"/>
            <a:ext cx="5444548" cy="957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Language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C13329E-F475-6A84-E483-1596FAD4E5A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CFD39E5-75B6-C973-672B-6AAB7963B12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7751403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 companies prefer Java or Python? - Datatas">
            <a:extLst>
              <a:ext uri="{FF2B5EF4-FFF2-40B4-BE49-F238E27FC236}">
                <a16:creationId xmlns:a16="http://schemas.microsoft.com/office/drawing/2014/main" id="{EF283280-7F4E-39AE-79DF-6A1481A79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233" y="4598865"/>
            <a:ext cx="7686675" cy="535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52286" y="1328699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Python?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2125" y="2675684"/>
            <a:ext cx="15591442" cy="161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</a:pPr>
            <a:r>
              <a:rPr lang="en-US" sz="3200" spc="79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Python is a dynamic, open-source programming language that emphasizes simplicity and productivity. Python has a natural, elegant syntax and is easy to read/write.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917B2012-864A-B479-2F32-4CD25DAE2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770" y="4490915"/>
            <a:ext cx="7436283" cy="556895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759C0-9F23-7F82-2202-05FF4835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77B27F-7CEE-4937-7CE3-9E19C5EE5F4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2897F2-4923-6655-2D63-1DC58D8714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B076409-D2C7-DB38-61C2-EE19636894D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ABB9E0-62E1-D74C-4CD8-6DB124E5640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D29A533-7140-FA2F-509E-E773735442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B375C8-620C-0645-7D10-3290B58D44A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2E947AD-BF50-5273-DD7B-6BD00BC63C8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5D4D8A-4672-5231-9741-6E5D8A1D750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 language comparison</a:t>
            </a:r>
          </a:p>
        </p:txBody>
      </p:sp>
      <p:pic>
        <p:nvPicPr>
          <p:cNvPr id="9" name="Google Shape;132;gef44d6c213_1_1">
            <a:extLst>
              <a:ext uri="{FF2B5EF4-FFF2-40B4-BE49-F238E27FC236}">
                <a16:creationId xmlns:a16="http://schemas.microsoft.com/office/drawing/2014/main" id="{63B3CB91-79B5-6DEB-3906-72F8026B04CD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580" y="2590460"/>
            <a:ext cx="6192020" cy="2409867"/>
          </a:xfrm>
          <a:prstGeom prst="rect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19EC43-17BF-324C-7FCE-39C65C4A417A}"/>
              </a:ext>
            </a:extLst>
          </p:cNvPr>
          <p:cNvSpPr txBox="1"/>
          <p:nvPr/>
        </p:nvSpPr>
        <p:spPr>
          <a:xfrm>
            <a:off x="1656569" y="2137589"/>
            <a:ext cx="864339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Java</a:t>
            </a:r>
            <a:endParaRPr lang="en-ID" sz="2400" dirty="0">
              <a:latin typeface="Consolas" panose="020B0609020204030204" pitchFamily="49" charset="0"/>
            </a:endParaRPr>
          </a:p>
        </p:txBody>
      </p:sp>
      <p:pic>
        <p:nvPicPr>
          <p:cNvPr id="20" name="Google Shape;133;gef44d6c213_1_1">
            <a:extLst>
              <a:ext uri="{FF2B5EF4-FFF2-40B4-BE49-F238E27FC236}">
                <a16:creationId xmlns:a16="http://schemas.microsoft.com/office/drawing/2014/main" id="{F37D7429-6778-152E-8808-BB186004425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 r="25211"/>
          <a:stretch/>
        </p:blipFill>
        <p:spPr>
          <a:xfrm>
            <a:off x="9006012" y="2590459"/>
            <a:ext cx="6005388" cy="2409866"/>
          </a:xfrm>
          <a:prstGeom prst="rect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9562C6D-0FB7-1912-DA2C-C97E4632AC89}"/>
              </a:ext>
            </a:extLst>
          </p:cNvPr>
          <p:cNvSpPr txBox="1"/>
          <p:nvPr/>
        </p:nvSpPr>
        <p:spPr>
          <a:xfrm>
            <a:off x="9006007" y="2137589"/>
            <a:ext cx="694421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C++</a:t>
            </a:r>
            <a:endParaRPr lang="en-ID" sz="2400">
              <a:latin typeface="Consolas" panose="020B0609020204030204" pitchFamily="49" charset="0"/>
            </a:endParaRPr>
          </a:p>
        </p:txBody>
      </p:sp>
      <p:pic>
        <p:nvPicPr>
          <p:cNvPr id="22" name="Google Shape;135;gef44d6c213_1_1">
            <a:extLst>
              <a:ext uri="{FF2B5EF4-FFF2-40B4-BE49-F238E27FC236}">
                <a16:creationId xmlns:a16="http://schemas.microsoft.com/office/drawing/2014/main" id="{B9968FB4-5813-37BC-216C-FE60E37A3AA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rcRect r="33408"/>
          <a:stretch/>
        </p:blipFill>
        <p:spPr>
          <a:xfrm>
            <a:off x="1656568" y="5707493"/>
            <a:ext cx="6192020" cy="2409860"/>
          </a:xfrm>
          <a:prstGeom prst="rect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9727484-89DD-4692-7467-82AB7737BE29}"/>
              </a:ext>
            </a:extLst>
          </p:cNvPr>
          <p:cNvSpPr txBox="1"/>
          <p:nvPr/>
        </p:nvSpPr>
        <p:spPr>
          <a:xfrm>
            <a:off x="1656569" y="5245828"/>
            <a:ext cx="354584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C</a:t>
            </a:r>
            <a:endParaRPr lang="en-ID" sz="2400" dirty="0">
              <a:latin typeface="Consolas" panose="020B0609020204030204" pitchFamily="49" charset="0"/>
            </a:endParaRPr>
          </a:p>
        </p:txBody>
      </p:sp>
      <p:pic>
        <p:nvPicPr>
          <p:cNvPr id="24" name="Google Shape;136;gef44d6c213_1_1">
            <a:extLst>
              <a:ext uri="{FF2B5EF4-FFF2-40B4-BE49-F238E27FC236}">
                <a16:creationId xmlns:a16="http://schemas.microsoft.com/office/drawing/2014/main" id="{CCFAD56D-4A69-EE99-6281-F6F36A52C9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">
            <a:alphaModFix/>
          </a:blip>
          <a:srcRect r="20121"/>
          <a:stretch/>
        </p:blipFill>
        <p:spPr>
          <a:xfrm>
            <a:off x="9006006" y="5707493"/>
            <a:ext cx="6005387" cy="2409860"/>
          </a:xfrm>
          <a:prstGeom prst="rect">
            <a:avLst/>
          </a:prstGeom>
          <a:noFill/>
          <a:ln w="9525" cap="flat" cmpd="sng">
            <a:solidFill>
              <a:schemeClr val="bg2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C56C3D-5401-5723-BC1B-DA4C0C9CFBE0}"/>
              </a:ext>
            </a:extLst>
          </p:cNvPr>
          <p:cNvSpPr txBox="1"/>
          <p:nvPr/>
        </p:nvSpPr>
        <p:spPr>
          <a:xfrm>
            <a:off x="8991600" y="5245826"/>
            <a:ext cx="1204176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Python</a:t>
            </a:r>
            <a:endParaRPr lang="en-ID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1180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CD3DE-9392-AA80-B89A-4406A644F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722BC63-2FF1-E71D-10CB-8FFE1EBF5F3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A1CDDD-BB85-E8C3-B812-2421FEB1C8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D46443C-8B63-C8E6-6485-4BE309F3394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7B1C235-482E-A454-3BE8-5446980076E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736CCC-833D-FF5F-6F46-E97FE900240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0C30489-3639-DF7C-3F55-558B720C966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5D6A9CC-97EC-AECD-E5A3-D6AD472BF63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ECF5E08-F78C-5707-1682-F253BB45EC74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How Does Python Work?</a:t>
            </a:r>
          </a:p>
        </p:txBody>
      </p:sp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7A500E17-3796-A0A6-7366-6D5FD446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376" y="2443818"/>
            <a:ext cx="12733304" cy="619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4590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0DEA6-C114-8567-4F64-1758960B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65AB09-F33A-6752-077C-21247D37BAB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FCE613-45DE-E21F-5B04-A490022F97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C8465DF-7ECD-C8F0-1990-4B89FD5AFEF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F03D88-CF78-6E08-7048-C8388E988FF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FC83261-E667-E74A-1135-BD1841FDE8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868DF5C-FC9B-CE7F-90B9-7CED7AD7B28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12B2C70-964E-39B6-AA86-51DFB059051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80D6549-2C81-5834-32B5-BCBAABC7FF38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How Does Python Work?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C20887-1DA8-4629-B2F8-FC330A5CD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27231"/>
              </p:ext>
            </p:extLst>
          </p:nvPr>
        </p:nvGraphicFramePr>
        <p:xfrm>
          <a:off x="1981200" y="2476499"/>
          <a:ext cx="13227495" cy="5634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2805288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647379702"/>
                    </a:ext>
                  </a:extLst>
                </a:gridCol>
                <a:gridCol w="4997895">
                  <a:extLst>
                    <a:ext uri="{9D8B030D-6E8A-4147-A177-3AD203B41FA5}">
                      <a16:colId xmlns:a16="http://schemas.microsoft.com/office/drawing/2014/main" val="123048385"/>
                    </a:ext>
                  </a:extLst>
                </a:gridCol>
              </a:tblGrid>
              <a:tr h="4825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Interpreter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Compiler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13520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Execution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Executes code </a:t>
                      </a: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line by line</a:t>
                      </a:r>
                      <a:endParaRPr lang="en-US" sz="2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Translates the </a:t>
                      </a: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entire code first</a:t>
                      </a:r>
                      <a:r>
                        <a:rPr lang="en-US" sz="2400" dirty="0">
                          <a:latin typeface="Montserrat" panose="00000500000000000000" pitchFamily="2" charset="0"/>
                        </a:rPr>
                        <a:t>, then runs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820675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Slower (because it translates while running)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Faster (since it's already translated)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49299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Error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Stops </a:t>
                      </a: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immediately</a:t>
                      </a:r>
                      <a:r>
                        <a:rPr lang="en-US" sz="2400" dirty="0">
                          <a:latin typeface="Montserrat" panose="00000500000000000000" pitchFamily="2" charset="0"/>
                        </a:rPr>
                        <a:t> when an error is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Finds </a:t>
                      </a: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all errors at once</a:t>
                      </a:r>
                      <a:r>
                        <a:rPr lang="en-US" sz="2400" dirty="0">
                          <a:latin typeface="Montserrat" panose="00000500000000000000" pitchFamily="2" charset="0"/>
                        </a:rPr>
                        <a:t> after compiling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661858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More flexible; easier to test and 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Less flexible; needs recompilation after every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81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55210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1EBB8-0DD0-D5C5-D3AC-AAE867C7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7ED703-D51A-394F-1019-EC9B739327C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1EB4C8-61DB-8E45-75F2-A7D02624D5B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6437D0-A7D0-75D1-4D5B-75C57CBF207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C5C5C9E-5A3D-A6D3-C23D-3A3C15EABF45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6884F3F-E489-8442-B34A-1843C4C591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DA133D0-84B7-B270-1289-8D1233DAE99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80C9A8A-E5A7-B00A-F5D5-98ABBDE6562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BAECAE3-A344-EC18-D7ED-5E281E5F922A}"/>
              </a:ext>
            </a:extLst>
          </p:cNvPr>
          <p:cNvSpPr txBox="1"/>
          <p:nvPr/>
        </p:nvSpPr>
        <p:spPr>
          <a:xfrm>
            <a:off x="751417" y="1007477"/>
            <a:ext cx="160887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Applications That Can Be Developed with Python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B9D395-B355-25D2-7A79-82187C9F9F78}"/>
              </a:ext>
            </a:extLst>
          </p:cNvPr>
          <p:cNvSpPr/>
          <p:nvPr/>
        </p:nvSpPr>
        <p:spPr>
          <a:xfrm>
            <a:off x="1779195" y="2418409"/>
            <a:ext cx="1295909" cy="1295909"/>
          </a:xfrm>
          <a:prstGeom prst="ellipse">
            <a:avLst/>
          </a:prstGeom>
          <a:solidFill>
            <a:srgbClr val="ED7D31">
              <a:hueOff val="0"/>
              <a:satOff val="0"/>
              <a:lumOff val="0"/>
              <a:alphaOff val="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sp>
        <p:nvSpPr>
          <p:cNvPr id="28" name="Rectangle 27" descr="Web Design">
            <a:extLst>
              <a:ext uri="{FF2B5EF4-FFF2-40B4-BE49-F238E27FC236}">
                <a16:creationId xmlns:a16="http://schemas.microsoft.com/office/drawing/2014/main" id="{A2087F52-75D4-6AB2-A6E1-BD73639B9613}"/>
              </a:ext>
            </a:extLst>
          </p:cNvPr>
          <p:cNvSpPr/>
          <p:nvPr/>
        </p:nvSpPr>
        <p:spPr>
          <a:xfrm>
            <a:off x="2051336" y="2690550"/>
            <a:ext cx="751627" cy="751627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BCDBC0E-563B-C5C9-8077-452E3DDAD2C4}"/>
              </a:ext>
            </a:extLst>
          </p:cNvPr>
          <p:cNvGrpSpPr/>
          <p:nvPr/>
        </p:nvGrpSpPr>
        <p:grpSpPr>
          <a:xfrm>
            <a:off x="3352800" y="2418409"/>
            <a:ext cx="4419600" cy="1295909"/>
            <a:chOff x="1708430" y="402069"/>
            <a:chExt cx="4419600" cy="129590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1EC4322-917E-5416-0EE7-47AB6B25A8D1}"/>
                </a:ext>
              </a:extLst>
            </p:cNvPr>
            <p:cNvSpPr/>
            <p:nvPr/>
          </p:nvSpPr>
          <p:spPr>
            <a:xfrm>
              <a:off x="1708430" y="402069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8F72AEE-B154-FE13-C6E1-2604B89C6682}"/>
                </a:ext>
              </a:extLst>
            </p:cNvPr>
            <p:cNvSpPr txBox="1"/>
            <p:nvPr/>
          </p:nvSpPr>
          <p:spPr>
            <a:xfrm>
              <a:off x="1708430" y="402069"/>
              <a:ext cx="4419600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Web Development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6135382B-9DC5-5536-11F0-44DD9AD563D6}"/>
              </a:ext>
            </a:extLst>
          </p:cNvPr>
          <p:cNvSpPr/>
          <p:nvPr/>
        </p:nvSpPr>
        <p:spPr>
          <a:xfrm>
            <a:off x="1779194" y="6173647"/>
            <a:ext cx="1295909" cy="1295909"/>
          </a:xfrm>
          <a:prstGeom prst="ellipse">
            <a:avLst/>
          </a:prstGeom>
          <a:solidFill>
            <a:srgbClr val="A5A5A5">
              <a:hueOff val="0"/>
              <a:satOff val="0"/>
              <a:lumOff val="0"/>
              <a:alphaOff val="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" name="Rectangle 30" descr="Computer">
            <a:extLst>
              <a:ext uri="{FF2B5EF4-FFF2-40B4-BE49-F238E27FC236}">
                <a16:creationId xmlns:a16="http://schemas.microsoft.com/office/drawing/2014/main" id="{45817697-DC0F-73DB-F337-E1D337F2A567}"/>
              </a:ext>
            </a:extLst>
          </p:cNvPr>
          <p:cNvSpPr/>
          <p:nvPr/>
        </p:nvSpPr>
        <p:spPr>
          <a:xfrm>
            <a:off x="2051335" y="6445788"/>
            <a:ext cx="751627" cy="75162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72A90E5-A666-1F94-49D2-F7699BE92C62}"/>
              </a:ext>
            </a:extLst>
          </p:cNvPr>
          <p:cNvGrpSpPr/>
          <p:nvPr/>
        </p:nvGrpSpPr>
        <p:grpSpPr>
          <a:xfrm>
            <a:off x="3352799" y="6173647"/>
            <a:ext cx="3951472" cy="1295909"/>
            <a:chOff x="6868929" y="402069"/>
            <a:chExt cx="3951472" cy="129590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21946F2-36C7-9B3F-0A7F-BFC877A6E0A8}"/>
                </a:ext>
              </a:extLst>
            </p:cNvPr>
            <p:cNvSpPr/>
            <p:nvPr/>
          </p:nvSpPr>
          <p:spPr>
            <a:xfrm>
              <a:off x="6868929" y="402069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DDB768-8347-6F99-6929-E58D44291F8E}"/>
                </a:ext>
              </a:extLst>
            </p:cNvPr>
            <p:cNvSpPr txBox="1"/>
            <p:nvPr/>
          </p:nvSpPr>
          <p:spPr>
            <a:xfrm>
              <a:off x="6868929" y="402069"/>
              <a:ext cx="3951472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Software testing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C6882A7-64C2-B5B4-552E-EEB3FC2E353B}"/>
              </a:ext>
            </a:extLst>
          </p:cNvPr>
          <p:cNvSpPr/>
          <p:nvPr/>
        </p:nvSpPr>
        <p:spPr>
          <a:xfrm>
            <a:off x="1779194" y="4296028"/>
            <a:ext cx="1295909" cy="1295909"/>
          </a:xfrm>
          <a:prstGeom prst="ellipse">
            <a:avLst/>
          </a:prstGeom>
          <a:solidFill>
            <a:srgbClr val="FFC000">
              <a:hueOff val="0"/>
              <a:satOff val="0"/>
              <a:lumOff val="0"/>
              <a:alphaOff val="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F56413-5720-A977-18DA-39B55A9EB7A7}"/>
              </a:ext>
            </a:extLst>
          </p:cNvPr>
          <p:cNvGrpSpPr/>
          <p:nvPr/>
        </p:nvGrpSpPr>
        <p:grpSpPr>
          <a:xfrm>
            <a:off x="3352800" y="4263790"/>
            <a:ext cx="3054644" cy="1295909"/>
            <a:chOff x="1708430" y="2393537"/>
            <a:chExt cx="3054644" cy="129590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AB4FB96-759A-1701-8716-DD2D070931B8}"/>
                </a:ext>
              </a:extLst>
            </p:cNvPr>
            <p:cNvSpPr/>
            <p:nvPr/>
          </p:nvSpPr>
          <p:spPr>
            <a:xfrm>
              <a:off x="1708430" y="2393537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FF1B5B-FDAB-A3B7-EECF-758163B7BC3C}"/>
                </a:ext>
              </a:extLst>
            </p:cNvPr>
            <p:cNvSpPr txBox="1"/>
            <p:nvPr/>
          </p:nvSpPr>
          <p:spPr>
            <a:xfrm>
              <a:off x="1708430" y="2393537"/>
              <a:ext cx="3054644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Web Scraping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105A099-5119-3F2B-BAE5-7F1199B56845}"/>
              </a:ext>
            </a:extLst>
          </p:cNvPr>
          <p:cNvSpPr/>
          <p:nvPr/>
        </p:nvSpPr>
        <p:spPr>
          <a:xfrm>
            <a:off x="9372600" y="2418409"/>
            <a:ext cx="1295909" cy="1295909"/>
          </a:xfrm>
          <a:prstGeom prst="ellipse">
            <a:avLst/>
          </a:prstGeom>
          <a:solidFill>
            <a:srgbClr val="5B9BD5">
              <a:hueOff val="0"/>
              <a:satOff val="0"/>
              <a:lumOff val="0"/>
              <a:alphaOff val="0"/>
            </a:srgbClr>
          </a:solidFill>
          <a:ln>
            <a:noFill/>
          </a:ln>
          <a:effectLst/>
        </p:spPr>
        <p:style>
          <a:lnRef idx="0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" name="Rectangle 35" descr="Bar chart">
            <a:extLst>
              <a:ext uri="{FF2B5EF4-FFF2-40B4-BE49-F238E27FC236}">
                <a16:creationId xmlns:a16="http://schemas.microsoft.com/office/drawing/2014/main" id="{101C36F2-445B-6363-9E15-A48C21C4D0D0}"/>
              </a:ext>
            </a:extLst>
          </p:cNvPr>
          <p:cNvSpPr/>
          <p:nvPr/>
        </p:nvSpPr>
        <p:spPr>
          <a:xfrm>
            <a:off x="9644741" y="2690550"/>
            <a:ext cx="751627" cy="751627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C1CE8F7-55BB-0C06-6109-B5DFE4423266}"/>
              </a:ext>
            </a:extLst>
          </p:cNvPr>
          <p:cNvGrpSpPr/>
          <p:nvPr/>
        </p:nvGrpSpPr>
        <p:grpSpPr>
          <a:xfrm>
            <a:off x="10946205" y="2418409"/>
            <a:ext cx="5562600" cy="1295909"/>
            <a:chOff x="6868929" y="2393537"/>
            <a:chExt cx="5562600" cy="1295909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C92BC9E-FB9D-E614-9B6D-B89CD7DA77E9}"/>
                </a:ext>
              </a:extLst>
            </p:cNvPr>
            <p:cNvSpPr/>
            <p:nvPr/>
          </p:nvSpPr>
          <p:spPr>
            <a:xfrm>
              <a:off x="6868929" y="2393537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B839942-31F2-201B-DC07-51CC786802FD}"/>
                </a:ext>
              </a:extLst>
            </p:cNvPr>
            <p:cNvSpPr txBox="1"/>
            <p:nvPr/>
          </p:nvSpPr>
          <p:spPr>
            <a:xfrm>
              <a:off x="6868929" y="2393537"/>
              <a:ext cx="5562600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Data </a:t>
              </a:r>
              <a:r>
                <a:rPr lang="en-IN" sz="3200" kern="1200" dirty="0" err="1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Scince</a:t>
              </a: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 and Analysis 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46" name="Rectangle 45" descr="Monitor">
            <a:extLst>
              <a:ext uri="{FF2B5EF4-FFF2-40B4-BE49-F238E27FC236}">
                <a16:creationId xmlns:a16="http://schemas.microsoft.com/office/drawing/2014/main" id="{4597637B-5461-1889-18D9-5F179D7AE931}"/>
              </a:ext>
            </a:extLst>
          </p:cNvPr>
          <p:cNvSpPr/>
          <p:nvPr/>
        </p:nvSpPr>
        <p:spPr>
          <a:xfrm>
            <a:off x="2051334" y="4615061"/>
            <a:ext cx="751627" cy="751627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49" name="Picture 48" descr="A video game controller with a black and white controller&#10;&#10;AI-generated content may be incorrect.">
            <a:extLst>
              <a:ext uri="{FF2B5EF4-FFF2-40B4-BE49-F238E27FC236}">
                <a16:creationId xmlns:a16="http://schemas.microsoft.com/office/drawing/2014/main" id="{0EEED9FE-5970-AABC-EE02-2BEF4B02D3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4296028"/>
            <a:ext cx="1295909" cy="129590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060BA0B-A853-F973-8987-0E915CA8B9F9}"/>
              </a:ext>
            </a:extLst>
          </p:cNvPr>
          <p:cNvGrpSpPr/>
          <p:nvPr/>
        </p:nvGrpSpPr>
        <p:grpSpPr>
          <a:xfrm>
            <a:off x="10946205" y="4268739"/>
            <a:ext cx="5562600" cy="1295909"/>
            <a:chOff x="6868929" y="2393537"/>
            <a:chExt cx="5562600" cy="129590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23D151A-4298-CEE4-AA5B-BCEB5D0C0494}"/>
                </a:ext>
              </a:extLst>
            </p:cNvPr>
            <p:cNvSpPr/>
            <p:nvPr/>
          </p:nvSpPr>
          <p:spPr>
            <a:xfrm>
              <a:off x="6868929" y="2393537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7FF36EB-695A-529C-F74F-7F3831640367}"/>
                </a:ext>
              </a:extLst>
            </p:cNvPr>
            <p:cNvSpPr txBox="1"/>
            <p:nvPr/>
          </p:nvSpPr>
          <p:spPr>
            <a:xfrm>
              <a:off x="6868929" y="2393537"/>
              <a:ext cx="5562600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Game Development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2058" name="Picture 10" descr="cybersecurity&quot; Icon - Download for free – Iconduck">
            <a:extLst>
              <a:ext uri="{FF2B5EF4-FFF2-40B4-BE49-F238E27FC236}">
                <a16:creationId xmlns:a16="http://schemas.microsoft.com/office/drawing/2014/main" id="{68033453-27DB-C3AF-CC92-75B3F08B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6173647"/>
            <a:ext cx="1295909" cy="129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8262169F-0A40-6C7F-DC48-6E6FF4E7B2B1}"/>
              </a:ext>
            </a:extLst>
          </p:cNvPr>
          <p:cNvGrpSpPr/>
          <p:nvPr/>
        </p:nvGrpSpPr>
        <p:grpSpPr>
          <a:xfrm>
            <a:off x="10983731" y="6119069"/>
            <a:ext cx="5562600" cy="1295909"/>
            <a:chOff x="6868929" y="2393537"/>
            <a:chExt cx="5562600" cy="1295909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0DE4507-DF1D-19C4-6C39-DD720D894678}"/>
                </a:ext>
              </a:extLst>
            </p:cNvPr>
            <p:cNvSpPr/>
            <p:nvPr/>
          </p:nvSpPr>
          <p:spPr>
            <a:xfrm>
              <a:off x="6868929" y="2393537"/>
              <a:ext cx="3054644" cy="129590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F8132ED-EA14-ECE4-2A8D-628D37593150}"/>
                </a:ext>
              </a:extLst>
            </p:cNvPr>
            <p:cNvSpPr txBox="1"/>
            <p:nvPr/>
          </p:nvSpPr>
          <p:spPr>
            <a:xfrm>
              <a:off x="6868929" y="2393537"/>
              <a:ext cx="5562600" cy="12959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kern="120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Montserrat" panose="00000500000000000000" pitchFamily="2" charset="0"/>
                </a:rPr>
                <a:t>Cybersecurity</a:t>
              </a:r>
              <a:endParaRPr lang="en-US" sz="3200" kern="1200" dirty="0">
                <a:solidFill>
                  <a:sysClr val="windowText" lastClr="000000">
                    <a:hueOff val="0"/>
                    <a:satOff val="0"/>
                    <a:lumOff val="0"/>
                    <a:alphaOff val="0"/>
                  </a:sysClr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037390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32A1-30F5-7264-3B4E-87FF34B9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10CBF145-097C-64B9-5CB9-0B8C5AE24917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D4B5FC1-68CD-BACB-A389-B7DA49E5D912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2F655FC9-C7C8-6BA9-25F6-99E61ADAE952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3A3E89F3-4FEC-DCE5-43E2-E3713B7EE6B0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610ADFA-2067-26C2-949D-33C0CC71E451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27F8403-1C40-14C0-ABED-F7A95D3B6F3D}"/>
              </a:ext>
            </a:extLst>
          </p:cNvPr>
          <p:cNvSpPr txBox="1"/>
          <p:nvPr/>
        </p:nvSpPr>
        <p:spPr>
          <a:xfrm>
            <a:off x="1259652" y="5143500"/>
            <a:ext cx="7655748" cy="2009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Programming Platform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8990953-4BBD-BC7D-C23B-91C28C04B86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D384B13B-2D3D-897F-C794-8704D747BE7A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102236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CE567-3F37-E750-EE2A-3E22DDDF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0513F5-85A2-BDB4-836D-B54C4DD3F6E3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16708C-A015-3CB5-A30F-4C14ACC7A64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4629A9-BC60-CD0A-EB0B-E0A4A50874D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5ACAA45-DC1C-594E-578B-2FF3690EEC6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240EE12-7228-DD46-2DB0-7D8C0C249E7D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B27A0A-5CCA-2728-2685-7068B1616006}"/>
              </a:ext>
            </a:extLst>
          </p:cNvPr>
          <p:cNvSpPr txBox="1"/>
          <p:nvPr/>
        </p:nvSpPr>
        <p:spPr>
          <a:xfrm>
            <a:off x="4152286" y="1328699"/>
            <a:ext cx="9983428" cy="93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000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Programming Platform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63C46B-EE9C-FCF9-5B0A-348A791F340B}"/>
              </a:ext>
            </a:extLst>
          </p:cNvPr>
          <p:cNvSpPr txBox="1">
            <a:spLocks/>
          </p:cNvSpPr>
          <p:nvPr/>
        </p:nvSpPr>
        <p:spPr>
          <a:xfrm>
            <a:off x="2088703" y="2933700"/>
            <a:ext cx="13487400" cy="356052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There are 4 popular editors/platforms that can be used to write and run Python programs, including: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Terminal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Terminal &amp; Text Editor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IDE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Montserrat" panose="00000500000000000000" pitchFamily="2" charset="0"/>
              </a:rPr>
              <a:t>IDE for research and development</a:t>
            </a:r>
            <a:endParaRPr lang="en-ID" dirty="0">
              <a:latin typeface="Montserrat" panose="00000500000000000000" pitchFamily="2" charset="0"/>
            </a:endParaRPr>
          </a:p>
        </p:txBody>
      </p:sp>
      <p:pic>
        <p:nvPicPr>
          <p:cNvPr id="9" name="Google Shape;77;p2">
            <a:extLst>
              <a:ext uri="{FF2B5EF4-FFF2-40B4-BE49-F238E27FC236}">
                <a16:creationId xmlns:a16="http://schemas.microsoft.com/office/drawing/2014/main" id="{C5FA8482-3BAF-3AAA-430D-0CFD26D7A57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68400" y="7193513"/>
            <a:ext cx="2620969" cy="2620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281943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20396-3A9B-96E8-DD6A-5E3C7596B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75BF3B5-DF5A-9014-C484-292E43977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354" y="2184256"/>
            <a:ext cx="12218326" cy="6872808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034E276F-CBE7-7A14-BDCB-940B77A122E9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A4DC99-916E-49D8-96D8-C2356480A3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B3F59C-4963-3DB9-AC74-8430ADB126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9978284-3F65-9367-BD16-AB8F30ADB30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0AD0A9C-A684-4AC5-DF29-7F793AEBD8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C531715-6001-8288-1666-81CC76A8A4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925F829-8583-F529-905E-0FD768F27CC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F657F35-576C-3417-CC5E-13E75AEF617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961" lvl="1" indent="-474980" algn="l">
              <a:lnSpc>
                <a:spcPts val="5280"/>
              </a:lnSpc>
              <a:spcBef>
                <a:spcPct val="0"/>
              </a:spcBef>
              <a:buAutoNum type="arabicPeriod"/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89801321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0228-52B0-DFF2-B8D7-D6B7A21D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08451D-087D-A8F2-9057-229E14759C26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4C9F72-1CEA-1424-674F-0FD953833D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CB48D0B-3222-6A63-0077-CD1B81F5CE1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5CC950-A301-36E9-0DE6-59FF7A35E5C3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EC81702-EEBF-DB0E-529A-BCC19DD316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DEDDB61-596B-F971-B2FB-AC94A708989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18AC5F92-0D96-B06A-2D22-9B236280C95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F4ACA1-2DB8-F0D5-18FA-B7BD73CCF25D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2. Terminal + Text Editor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57E39B-9EC2-20F4-AC83-40AE12FD66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047" b="12476"/>
          <a:stretch/>
        </p:blipFill>
        <p:spPr>
          <a:xfrm>
            <a:off x="1741981" y="2341993"/>
            <a:ext cx="3910084" cy="27813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43C076-CD2D-637A-4170-3722A6403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869" y="5919225"/>
            <a:ext cx="5572898" cy="3132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BC5A87-22DD-5D37-E3C3-06D3ECF5B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400" y="2626701"/>
            <a:ext cx="8948617" cy="5033597"/>
          </a:xfrm>
          <a:prstGeom prst="rect">
            <a:avLst/>
          </a:prstGeom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744B77A-E735-9932-C3C5-62550F6F29AB}"/>
              </a:ext>
            </a:extLst>
          </p:cNvPr>
          <p:cNvCxnSpPr>
            <a:cxnSpLocks/>
            <a:stCxn id="11" idx="1"/>
            <a:endCxn id="13" idx="1"/>
          </p:cNvCxnSpPr>
          <p:nvPr/>
        </p:nvCxnSpPr>
        <p:spPr>
          <a:xfrm rot="10800000" flipV="1">
            <a:off x="1456869" y="3732660"/>
            <a:ext cx="285112" cy="3752671"/>
          </a:xfrm>
          <a:prstGeom prst="curvedConnector3">
            <a:avLst>
              <a:gd name="adj1" fmla="val 180179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4C21103-3C05-B458-ABDD-646FFFFE73E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029767" y="5143500"/>
            <a:ext cx="1123633" cy="2341832"/>
          </a:xfrm>
          <a:prstGeom prst="curvedConnector3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191C13-1D6F-11BD-D773-600F3F7FD6B9}"/>
              </a:ext>
            </a:extLst>
          </p:cNvPr>
          <p:cNvSpPr txBox="1"/>
          <p:nvPr/>
        </p:nvSpPr>
        <p:spPr>
          <a:xfrm>
            <a:off x="565608" y="3783448"/>
            <a:ext cx="6203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Montserrat" panose="00000500000000000000" pitchFamily="2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2A7C7-CCCF-4475-F69E-98F28F70F199}"/>
              </a:ext>
            </a:extLst>
          </p:cNvPr>
          <p:cNvSpPr txBox="1"/>
          <p:nvPr/>
        </p:nvSpPr>
        <p:spPr>
          <a:xfrm>
            <a:off x="7281395" y="4429779"/>
            <a:ext cx="6203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Montserrat" panose="00000500000000000000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8244168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0AFD8-DFEA-E63E-D654-50E171BB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A0706A-E52D-249E-F633-5FCEAA808FD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2024BF-590C-258C-0421-9A5E01EA9F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8D696CA-A896-47F2-43EC-21B703E6348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6382221-E82B-1574-2BCF-452FDCD342C6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9EAE293-142B-3F71-ABC0-12C8AA13D0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47F66B-C9E9-E2B5-986F-7C1B56F5285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90434D2-A4AC-CDB1-C54F-0B2830BAE2B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0C6BFF0-CA21-FFA5-6AAB-810459E25218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Python IDEs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B9490BC-C877-9539-9F76-FF06B13DF3CD}"/>
              </a:ext>
            </a:extLst>
          </p:cNvPr>
          <p:cNvSpPr txBox="1">
            <a:spLocks/>
          </p:cNvSpPr>
          <p:nvPr/>
        </p:nvSpPr>
        <p:spPr>
          <a:xfrm>
            <a:off x="1752600" y="1650320"/>
            <a:ext cx="15546797" cy="68166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Python IDEs (Integrated Development Environments) are software that provide a complete environment for writing, editing, running, and debugging Python code.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IDEs usually come with features like: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✅ </a:t>
            </a:r>
            <a:r>
              <a:rPr lang="en-US" b="1" dirty="0">
                <a:latin typeface="Montserrat" panose="00000500000000000000" pitchFamily="2" charset="0"/>
              </a:rPr>
              <a:t>Code editor </a:t>
            </a:r>
            <a:r>
              <a:rPr lang="en-US" dirty="0">
                <a:latin typeface="Montserrat" panose="00000500000000000000" pitchFamily="2" charset="0"/>
              </a:rPr>
              <a:t>with syntax highlighting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✅ </a:t>
            </a:r>
            <a:r>
              <a:rPr lang="en-US" b="1" dirty="0">
                <a:latin typeface="Montserrat" panose="00000500000000000000" pitchFamily="2" charset="0"/>
              </a:rPr>
              <a:t>Debugger</a:t>
            </a:r>
            <a:r>
              <a:rPr lang="en-US" dirty="0">
                <a:latin typeface="Montserrat" panose="00000500000000000000" pitchFamily="2" charset="0"/>
              </a:rPr>
              <a:t> to find and fix errors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✅ </a:t>
            </a:r>
            <a:r>
              <a:rPr lang="en-US" b="1" dirty="0">
                <a:latin typeface="Montserrat" panose="00000500000000000000" pitchFamily="2" charset="0"/>
              </a:rPr>
              <a:t>Project management </a:t>
            </a:r>
            <a:r>
              <a:rPr lang="en-US" dirty="0">
                <a:latin typeface="Montserrat" panose="00000500000000000000" pitchFamily="2" charset="0"/>
              </a:rPr>
              <a:t>to manage files and dependencies</a:t>
            </a:r>
          </a:p>
          <a:p>
            <a:pPr marL="0" indent="0" algn="just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✅ </a:t>
            </a:r>
            <a:r>
              <a:rPr lang="en-US" b="1" dirty="0">
                <a:latin typeface="Montserrat" panose="00000500000000000000" pitchFamily="2" charset="0"/>
              </a:rPr>
              <a:t>Built-in terminal </a:t>
            </a:r>
            <a:r>
              <a:rPr lang="en-US" dirty="0">
                <a:latin typeface="Montserrat" panose="00000500000000000000" pitchFamily="2" charset="0"/>
              </a:rPr>
              <a:t>to run scripts directly</a:t>
            </a:r>
            <a:endParaRPr lang="en-ID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70832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27E05-E6C2-9E27-5475-D249EBC6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8A48D43-79B5-EBFB-1931-DB5E6E286643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A899F75-2FD5-065B-3ED6-665D2D0E32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EB17D47-6F0F-566A-BA8E-F48CE0001BF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A04E08-3C78-BF9A-94F8-D2A3BB7663F1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A2AD248-922A-996D-E188-58B51B8CA2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A37F9CC-79EA-1698-9AC0-C0233357466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A24786D-1DB5-A493-8150-7B81F8FB72B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857F9A3-EE2A-D77A-D567-4155E0F9FD5F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3. Python IDEs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84D60AC-D986-EBCF-0182-8BA342DCC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034233"/>
              </p:ext>
            </p:extLst>
          </p:nvPr>
        </p:nvGraphicFramePr>
        <p:xfrm>
          <a:off x="1905000" y="2258686"/>
          <a:ext cx="14782800" cy="3909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val="228052887"/>
                    </a:ext>
                  </a:extLst>
                </a:gridCol>
                <a:gridCol w="11049000">
                  <a:extLst>
                    <a:ext uri="{9D8B030D-6E8A-4147-A177-3AD203B41FA5}">
                      <a16:colId xmlns:a16="http://schemas.microsoft.com/office/drawing/2014/main" val="1647379702"/>
                    </a:ext>
                  </a:extLst>
                </a:gridCol>
              </a:tblGrid>
              <a:tr h="4825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013520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PyCharm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Advanced IDE with full features for Python and Django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820675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 err="1">
                          <a:latin typeface="Montserrat" panose="00000500000000000000" pitchFamily="2" charset="0"/>
                        </a:rPr>
                        <a:t>VsCode</a:t>
                      </a:r>
                      <a:endParaRPr lang="en-US" sz="2400" b="1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Lightweight editor with powerful Python extensions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49299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 err="1">
                          <a:latin typeface="Montserrat" panose="00000500000000000000" pitchFamily="2" charset="0"/>
                        </a:rPr>
                        <a:t>Jupyter</a:t>
                      </a: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Web-based IDE for data analysis and machine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661858"/>
                  </a:ext>
                </a:extLst>
              </a:tr>
              <a:tr h="83283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Montserrat" panose="00000500000000000000" pitchFamily="2" charset="0"/>
                        </a:rPr>
                        <a:t>Spyder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dirty="0">
                          <a:latin typeface="Montserrat" panose="00000500000000000000" pitchFamily="2" charset="0"/>
                        </a:rPr>
                        <a:t>IDE specifically for data science and scientific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819597"/>
                  </a:ext>
                </a:extLst>
              </a:tr>
            </a:tbl>
          </a:graphicData>
        </a:graphic>
      </p:graphicFrame>
      <p:pic>
        <p:nvPicPr>
          <p:cNvPr id="18" name="Picture 17" descr="Visual Studio Code - Wikipedia bahasa Indonesia, ensiklopedia bebas">
            <a:extLst>
              <a:ext uri="{FF2B5EF4-FFF2-40B4-BE49-F238E27FC236}">
                <a16:creationId xmlns:a16="http://schemas.microsoft.com/office/drawing/2014/main" id="{2314A4A3-6A91-3D94-7270-3CA7C85C4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6978" y="7180637"/>
            <a:ext cx="1481422" cy="169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pyder IDE">
            <a:extLst>
              <a:ext uri="{FF2B5EF4-FFF2-40B4-BE49-F238E27FC236}">
                <a16:creationId xmlns:a16="http://schemas.microsoft.com/office/drawing/2014/main" id="{0B5CB677-A0B3-8363-5FFD-3BE0C79B8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180" y="6961513"/>
            <a:ext cx="214312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ycharm Professional Edition. IDE Bahasa Pemrograman Python - Tutor-All  Programming">
            <a:extLst>
              <a:ext uri="{FF2B5EF4-FFF2-40B4-BE49-F238E27FC236}">
                <a16:creationId xmlns:a16="http://schemas.microsoft.com/office/drawing/2014/main" id="{686E0F38-4FA2-C077-8291-32971A621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003" y="695198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Google Colab &amp; Manajemen Data. Mengenal apa itu Google Colab dan… | by Rr  Dea Annisayanti Putri | Medium">
            <a:extLst>
              <a:ext uri="{FF2B5EF4-FFF2-40B4-BE49-F238E27FC236}">
                <a16:creationId xmlns:a16="http://schemas.microsoft.com/office/drawing/2014/main" id="{B16A701E-6880-AAB6-4498-A58799B35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215" y="7310959"/>
            <a:ext cx="29337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78435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F488E-1395-E844-94AD-2DFD89A2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69DC51-0110-A0CF-0980-D999B0166A95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610374-0AC3-4783-C7A7-40E1E030C0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CAD599A-D288-CB05-28AD-D5E3E95FE63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74B07BF-EC0B-4469-75FF-B84FB77325AB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31CE50D-FD56-A707-A1C7-13BE148B45A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9BE5B31-D417-7657-2E1F-9EF29C7550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8760CFD-0B64-9A2E-5F12-8A86E5B1D59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6BD29E2-2BDF-7B1B-C2C7-686CF9E365A7}"/>
              </a:ext>
            </a:extLst>
          </p:cNvPr>
          <p:cNvSpPr txBox="1"/>
          <p:nvPr/>
        </p:nvSpPr>
        <p:spPr>
          <a:xfrm>
            <a:off x="751417" y="1100483"/>
            <a:ext cx="139551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4. IDE for Research and Development</a:t>
            </a:r>
          </a:p>
        </p:txBody>
      </p:sp>
      <p:pic>
        <p:nvPicPr>
          <p:cNvPr id="18" name="Picture 17" descr="Visual Studio Code - Wikipedia bahasa Indonesia, ensiklopedia bebas">
            <a:extLst>
              <a:ext uri="{FF2B5EF4-FFF2-40B4-BE49-F238E27FC236}">
                <a16:creationId xmlns:a16="http://schemas.microsoft.com/office/drawing/2014/main" id="{62656A9C-127F-8362-0CED-EA7567383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4400" y="4873550"/>
            <a:ext cx="1481422" cy="169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3E81ED-6946-7201-68EE-06BB635E0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4705" y="2255937"/>
            <a:ext cx="13165975" cy="69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73993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F0AA-A81A-C843-7FC2-A97B20DB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182AA4-F739-FE3A-2ADC-80EB713644FA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591B0E-9D11-B4F8-9B77-536CF551FCEB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6F5DD4-2B49-3CFA-EDD3-C59DAFC0CD34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C006664-9260-5A0F-656F-12BE22C1D38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E048CFD-BE37-0F48-C20B-33F930AF3928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1170211-949B-598E-9276-7FA7BEC7CE6C}"/>
              </a:ext>
            </a:extLst>
          </p:cNvPr>
          <p:cNvSpPr txBox="1"/>
          <p:nvPr/>
        </p:nvSpPr>
        <p:spPr>
          <a:xfrm>
            <a:off x="4149288" y="1104918"/>
            <a:ext cx="9983428" cy="1989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1"/>
              </a:lnSpc>
              <a:spcBef>
                <a:spcPct val="0"/>
              </a:spcBef>
            </a:pPr>
            <a:r>
              <a:rPr lang="en-US" sz="6000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Visual Studio Code?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ADB60F-888F-22B9-EA87-73018D450D66}"/>
              </a:ext>
            </a:extLst>
          </p:cNvPr>
          <p:cNvSpPr txBox="1">
            <a:spLocks/>
          </p:cNvSpPr>
          <p:nvPr/>
        </p:nvSpPr>
        <p:spPr>
          <a:xfrm>
            <a:off x="1198628" y="3619500"/>
            <a:ext cx="15250014" cy="356052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Visual Studio Code (abbreviated </a:t>
            </a:r>
            <a:r>
              <a:rPr lang="en-US" dirty="0" err="1">
                <a:latin typeface="Montserrat" panose="00000500000000000000" pitchFamily="2" charset="0"/>
              </a:rPr>
              <a:t>VSCode</a:t>
            </a:r>
            <a:r>
              <a:rPr lang="en-US" dirty="0">
                <a:latin typeface="Montserrat" panose="00000500000000000000" pitchFamily="2" charset="0"/>
              </a:rPr>
              <a:t>) is a source code editing software made by Microsoft for Linux, macOS, and Windows.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Visual Studio Code is a source code editor that can be used for a variety of programming languages, including </a:t>
            </a:r>
            <a:r>
              <a:rPr lang="en-US" b="1" dirty="0">
                <a:latin typeface="Montserrat" panose="00000500000000000000" pitchFamily="2" charset="0"/>
              </a:rPr>
              <a:t>C#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HTML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CSS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Java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JavaScript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Node.js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Python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b="1" dirty="0">
                <a:latin typeface="Montserrat" panose="00000500000000000000" pitchFamily="2" charset="0"/>
              </a:rPr>
              <a:t>PHP</a:t>
            </a:r>
            <a:r>
              <a:rPr lang="en-US" dirty="0">
                <a:latin typeface="Montserrat" panose="00000500000000000000" pitchFamily="2" charset="0"/>
              </a:rPr>
              <a:t> and </a:t>
            </a:r>
            <a:r>
              <a:rPr lang="en-US" b="1" dirty="0">
                <a:latin typeface="Montserrat" panose="00000500000000000000" pitchFamily="2" charset="0"/>
              </a:rPr>
              <a:t>C++.</a:t>
            </a:r>
            <a:endParaRPr lang="en-ID" b="1" dirty="0">
              <a:latin typeface="Montserrat" panose="00000500000000000000" pitchFamily="2" charset="0"/>
            </a:endParaRPr>
          </a:p>
        </p:txBody>
      </p:sp>
      <p:pic>
        <p:nvPicPr>
          <p:cNvPr id="7" name="Picture 6" descr="Visual Studio Code - Wikipedia bahasa Indonesia, ensiklopedia bebas">
            <a:extLst>
              <a:ext uri="{FF2B5EF4-FFF2-40B4-BE49-F238E27FC236}">
                <a16:creationId xmlns:a16="http://schemas.microsoft.com/office/drawing/2014/main" id="{A2FB885A-DC3F-24C7-7504-558E63883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220" y="8405459"/>
            <a:ext cx="1481422" cy="169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285491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F7105-90BC-9BBB-C069-F77D9620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589EEE-1B20-B86A-5207-3252121D0838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1A4B9B-3D91-2C3F-C573-7EAF9467F1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04C24C-4D16-7319-3B0E-4C58D186F2D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7EDDCF0-4E83-7DA7-4545-B926B21E9B4D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EE83881-B9AF-B190-BB72-459DD2BFC9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C066E45-AA6E-E050-66C5-F99670ABA31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EB67757-8201-D902-9C72-85F21D6817C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1487B73-2721-E874-BA42-F5929646AC62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Setting up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VsCode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for Python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8DBA55-04A8-DE93-E1ED-31B7B4AC892A}"/>
              </a:ext>
            </a:extLst>
          </p:cNvPr>
          <p:cNvSpPr txBox="1">
            <a:spLocks/>
          </p:cNvSpPr>
          <p:nvPr/>
        </p:nvSpPr>
        <p:spPr>
          <a:xfrm>
            <a:off x="1668292" y="1820267"/>
            <a:ext cx="15250014" cy="356052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Montserrat" panose="00000500000000000000" pitchFamily="2" charset="0"/>
              </a:rPr>
              <a:t>1. Install Vs Code &amp; Python</a:t>
            </a:r>
          </a:p>
          <a:p>
            <a:pPr marL="685800" indent="-333375">
              <a:lnSpc>
                <a:spcPct val="150000"/>
              </a:lnSpc>
            </a:pPr>
            <a:r>
              <a:rPr lang="en-US" b="1" dirty="0">
                <a:latin typeface="Montserrat" panose="00000500000000000000" pitchFamily="2" charset="0"/>
              </a:rPr>
              <a:t>Download &amp; install VS Code</a:t>
            </a:r>
            <a:r>
              <a:rPr lang="en-US" dirty="0">
                <a:latin typeface="Montserrat" panose="00000500000000000000" pitchFamily="2" charset="0"/>
              </a:rPr>
              <a:t> → </a:t>
            </a:r>
            <a:r>
              <a:rPr lang="en-US" dirty="0">
                <a:latin typeface="Montserrat" panose="00000500000000000000" pitchFamily="2" charset="0"/>
                <a:hlinkClick r:id="rId4"/>
              </a:rPr>
              <a:t>https://code.visualstudio.com/</a:t>
            </a:r>
            <a:endParaRPr lang="en-US" dirty="0">
              <a:latin typeface="Montserrat" panose="00000500000000000000" pitchFamily="2" charset="0"/>
            </a:endParaRPr>
          </a:p>
          <a:p>
            <a:pPr marL="685800" indent="-333375">
              <a:lnSpc>
                <a:spcPct val="150000"/>
              </a:lnSpc>
            </a:pPr>
            <a:r>
              <a:rPr lang="sv-SE" b="1" dirty="0">
                <a:latin typeface="Montserrat" panose="00000500000000000000" pitchFamily="2" charset="0"/>
              </a:rPr>
              <a:t>Install Python</a:t>
            </a:r>
            <a:r>
              <a:rPr lang="sv-SE" dirty="0">
                <a:latin typeface="Montserrat" panose="00000500000000000000" pitchFamily="2" charset="0"/>
              </a:rPr>
              <a:t> (jika belum ada) → </a:t>
            </a:r>
            <a:r>
              <a:rPr lang="sv-SE" dirty="0">
                <a:latin typeface="Montserrat" panose="00000500000000000000" pitchFamily="2" charset="0"/>
                <a:hlinkClick r:id="rId5"/>
              </a:rPr>
              <a:t>https://www.python.org/downloads/</a:t>
            </a:r>
            <a:endParaRPr lang="en-US" dirty="0">
              <a:latin typeface="Montserrat" panose="00000500000000000000" pitchFamily="2" charset="0"/>
            </a:endParaRPr>
          </a:p>
          <a:p>
            <a:pPr marL="685800" indent="-333375">
              <a:lnSpc>
                <a:spcPct val="150000"/>
              </a:lnSpc>
            </a:pPr>
            <a:r>
              <a:rPr lang="en-ID" dirty="0" err="1">
                <a:latin typeface="Montserrat" panose="00000500000000000000" pitchFamily="2" charset="0"/>
              </a:rPr>
              <a:t>Pastikan</a:t>
            </a:r>
            <a:r>
              <a:rPr lang="en-ID" dirty="0">
                <a:latin typeface="Montserrat" panose="00000500000000000000" pitchFamily="2" charset="0"/>
              </a:rPr>
              <a:t> Python </a:t>
            </a:r>
            <a:r>
              <a:rPr lang="en-ID" dirty="0" err="1">
                <a:latin typeface="Montserrat" panose="00000500000000000000" pitchFamily="2" charset="0"/>
              </a:rPr>
              <a:t>sudah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terinstall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dengan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mengetik</a:t>
            </a:r>
            <a:r>
              <a:rPr lang="en-ID" dirty="0">
                <a:latin typeface="Montserrat" panose="00000500000000000000" pitchFamily="2" charset="0"/>
              </a:rPr>
              <a:t> di terminal:</a:t>
            </a:r>
          </a:p>
          <a:p>
            <a:pPr>
              <a:lnSpc>
                <a:spcPct val="150000"/>
              </a:lnSpc>
            </a:pPr>
            <a:endParaRPr lang="en-ID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ID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ID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ID" dirty="0">
              <a:latin typeface="Montserrat" panose="000005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E551D7-257A-AA64-09F5-11A14D73A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9308" y="5452591"/>
            <a:ext cx="7086600" cy="3187744"/>
          </a:xfrm>
          <a:prstGeom prst="rect">
            <a:avLst/>
          </a:prstGeom>
        </p:spPr>
      </p:pic>
      <p:pic>
        <p:nvPicPr>
          <p:cNvPr id="21" name="Picture 20" descr="Visual Studio Code - Wikipedia bahasa Indonesia, ensiklopedia bebas">
            <a:extLst>
              <a:ext uri="{FF2B5EF4-FFF2-40B4-BE49-F238E27FC236}">
                <a16:creationId xmlns:a16="http://schemas.microsoft.com/office/drawing/2014/main" id="{62260EC2-8354-D016-E296-64E38E0A2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7220" y="8405459"/>
            <a:ext cx="1481422" cy="169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38562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08948-7BD8-3B19-9425-C701E7F4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BD3140C-C958-BB0F-992F-68AD244AA9C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F40582-D2BC-1C98-D7AD-A1318C0BF0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07A1B6A-E896-291A-4152-A272E26A6C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DE94909-731E-47AE-03ED-24DC0437BF6F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F744C07-B188-EFD8-470D-C4F624FE4E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D8DD19F-130C-7A6D-5061-F87AE7E6246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43AE9CC-7B49-80FB-CFF6-DBAD7579128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D299DAA-1EDA-DE87-76C9-2E4754C61B1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Setting up </a:t>
            </a:r>
            <a:r>
              <a:rPr lang="en-US" sz="4400" b="1" spc="145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VsCode</a:t>
            </a: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for Python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32764E-08CA-62DD-EF79-F762407AE0D3}"/>
              </a:ext>
            </a:extLst>
          </p:cNvPr>
          <p:cNvSpPr txBox="1">
            <a:spLocks/>
          </p:cNvSpPr>
          <p:nvPr/>
        </p:nvSpPr>
        <p:spPr>
          <a:xfrm>
            <a:off x="613846" y="2166671"/>
            <a:ext cx="6853753" cy="663442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Montserrat" panose="00000500000000000000" pitchFamily="2" charset="0"/>
              </a:rPr>
              <a:t>2.  Install Python Extension in </a:t>
            </a:r>
            <a:r>
              <a:rPr lang="en-US" sz="2800" b="1" dirty="0" err="1">
                <a:latin typeface="Montserrat" panose="00000500000000000000" pitchFamily="2" charset="0"/>
              </a:rPr>
              <a:t>VsCode</a:t>
            </a:r>
            <a:endParaRPr lang="en-US" sz="2800" b="1" dirty="0">
              <a:latin typeface="Montserrat" panose="00000500000000000000" pitchFamily="2" charset="0"/>
            </a:endParaRPr>
          </a:p>
          <a:p>
            <a:pPr marL="404813" indent="-333375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Open VS Code</a:t>
            </a:r>
          </a:p>
          <a:p>
            <a:pPr marL="404813" indent="-333375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Go to Extensions (</a:t>
            </a:r>
            <a:r>
              <a:rPr lang="en-US" sz="2800" b="1" dirty="0">
                <a:latin typeface="Montserrat" panose="00000500000000000000" pitchFamily="2" charset="0"/>
              </a:rPr>
              <a:t>Ctrl + Shift + X </a:t>
            </a:r>
            <a:r>
              <a:rPr lang="en-US" sz="2800" dirty="0">
                <a:latin typeface="Montserrat" panose="00000500000000000000" pitchFamily="2" charset="0"/>
              </a:rPr>
              <a:t>or </a:t>
            </a:r>
            <a:r>
              <a:rPr lang="en-US" sz="2800" b="1" dirty="0" err="1">
                <a:latin typeface="Montserrat" panose="00000500000000000000" pitchFamily="2" charset="0"/>
              </a:rPr>
              <a:t>Cmd</a:t>
            </a:r>
            <a:r>
              <a:rPr lang="en-US" sz="2800" b="1" dirty="0">
                <a:latin typeface="Montserrat" panose="00000500000000000000" pitchFamily="2" charset="0"/>
              </a:rPr>
              <a:t> + Shift + X </a:t>
            </a:r>
            <a:r>
              <a:rPr lang="en-US" sz="2800" b="1" dirty="0">
                <a:solidFill>
                  <a:srgbClr val="FF0000"/>
                </a:solidFill>
                <a:latin typeface="Montserrat" panose="00000500000000000000" pitchFamily="2" charset="0"/>
              </a:rPr>
              <a:t>on Mac</a:t>
            </a:r>
            <a:r>
              <a:rPr lang="en-US" sz="2800" dirty="0">
                <a:latin typeface="Montserrat" panose="00000500000000000000" pitchFamily="2" charset="0"/>
              </a:rPr>
              <a:t>)</a:t>
            </a:r>
          </a:p>
          <a:p>
            <a:pPr marL="404813" indent="-333375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Search for Python (from Microsoft) and click Install</a:t>
            </a:r>
          </a:p>
          <a:p>
            <a:pPr marL="404813" indent="-333375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Once installed, make sure the extension is active</a:t>
            </a:r>
            <a:endParaRPr lang="en-ID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ID" sz="28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ID" sz="2800" dirty="0">
              <a:latin typeface="Montserrat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04B519-CA4A-5FE3-A226-DB89AE92F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482715"/>
            <a:ext cx="9977953" cy="56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92785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A64BE-516E-0212-EE96-2D89C872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3A9AA6-15E2-2C24-9D7A-80232C5C9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166671"/>
            <a:ext cx="12337414" cy="6934167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DA438D58-D35F-2573-275C-81126CDE6EF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CE39121-512E-B20B-16FC-D1D69EE8D54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3D55319-0896-A00F-5B29-E1BB16FE3A6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E5CEC17-E844-1B33-202C-7FE06C44223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BDB9D7C-4FF1-06D0-CF43-07A403DE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3427A58-82AA-115B-EFB5-8EDBC4D18BC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70514D6-BECD-D0E7-B6AF-C1AD9CC7265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671BD9-3014-E84D-C3B4-FE25F482D973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Programming in Python</a:t>
            </a:r>
          </a:p>
        </p:txBody>
      </p:sp>
    </p:spTree>
    <p:extLst>
      <p:ext uri="{BB962C8B-B14F-4D97-AF65-F5344CB8AC3E}">
        <p14:creationId xmlns:p14="http://schemas.microsoft.com/office/powerpoint/2010/main" val="66428124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EB8A-EBE5-06DF-FD63-9F41E470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6FBDF3D4-6465-FEA1-5856-4E7C68A7551B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848E498-2B43-6457-1C58-58C73AA53981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F1BC6ED-0B63-1E52-1064-0EB3E653ED78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765FC7BA-0439-9262-DCA0-A576116CDA44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B67F152-9ADD-6167-06C6-8642DDD2FB51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12F459D-AAE4-17E3-7872-022C0C3DC80B}"/>
              </a:ext>
            </a:extLst>
          </p:cNvPr>
          <p:cNvSpPr txBox="1"/>
          <p:nvPr/>
        </p:nvSpPr>
        <p:spPr>
          <a:xfrm>
            <a:off x="1259652" y="5143500"/>
            <a:ext cx="7655748" cy="957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Types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A4A3213-B7FE-B3CA-B511-112419DA080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4584D81-E0FF-56A2-804A-82EA13CE872E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C7B817-139F-5397-0866-6E0874789840}"/>
              </a:ext>
            </a:extLst>
          </p:cNvPr>
          <p:cNvSpPr txBox="1"/>
          <p:nvPr/>
        </p:nvSpPr>
        <p:spPr>
          <a:xfrm>
            <a:off x="1224793" y="7658100"/>
            <a:ext cx="1021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2" charset="0"/>
              </a:rPr>
              <a:t>You can open this </a:t>
            </a:r>
            <a:r>
              <a:rPr lang="en-US" sz="2400" dirty="0" err="1">
                <a:latin typeface="Montserrat" panose="00000500000000000000" pitchFamily="2" charset="0"/>
              </a:rPr>
              <a:t>colab</a:t>
            </a:r>
            <a:r>
              <a:rPr lang="en-US" sz="2400" dirty="0">
                <a:latin typeface="Montserrat" panose="00000500000000000000" pitchFamily="2" charset="0"/>
              </a:rPr>
              <a:t>:</a:t>
            </a:r>
          </a:p>
          <a:p>
            <a:endParaRPr lang="en-US" sz="2400" dirty="0">
              <a:latin typeface="Montserrat" panose="00000500000000000000" pitchFamily="2" charset="0"/>
            </a:endParaRPr>
          </a:p>
          <a:p>
            <a:r>
              <a:rPr lang="en-US" sz="2400" dirty="0">
                <a:latin typeface="Montserrat" panose="00000500000000000000" pitchFamily="2" charset="0"/>
              </a:rPr>
              <a:t>https://colab.research.google.com/drive/1kR5aArRY6u577woE87JLszC6e4IxqGw4?usp=sharing</a:t>
            </a:r>
          </a:p>
        </p:txBody>
      </p:sp>
    </p:spTree>
    <p:extLst>
      <p:ext uri="{BB962C8B-B14F-4D97-AF65-F5344CB8AC3E}">
        <p14:creationId xmlns:p14="http://schemas.microsoft.com/office/powerpoint/2010/main" val="125119791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477E-FE1C-B679-3D44-62B1AE26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59D05C-825D-CB43-D67F-3CA8DE1DF060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B54B220-0EE7-0744-643C-D9BAC0A04F78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AE5FA76-AB17-2226-6D70-D1140BA3CB72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EDBD048-B6F1-E58C-5C30-66064A52587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FFEA03A-5FD5-2A5D-DCE6-E2D542E2546F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D1F2C94-FD80-38AB-2990-87574C5161D8}"/>
              </a:ext>
            </a:extLst>
          </p:cNvPr>
          <p:cNvSpPr txBox="1"/>
          <p:nvPr/>
        </p:nvSpPr>
        <p:spPr>
          <a:xfrm>
            <a:off x="3960448" y="1159182"/>
            <a:ext cx="9983428" cy="1989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1"/>
              </a:lnSpc>
              <a:spcBef>
                <a:spcPct val="0"/>
              </a:spcBef>
            </a:pPr>
            <a:r>
              <a:rPr lang="en-US" sz="6000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Structures in Python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64DAFC-20FF-D2CA-8EAC-DC7D27924C18}"/>
              </a:ext>
            </a:extLst>
          </p:cNvPr>
          <p:cNvSpPr txBox="1">
            <a:spLocks/>
          </p:cNvSpPr>
          <p:nvPr/>
        </p:nvSpPr>
        <p:spPr>
          <a:xfrm>
            <a:off x="931985" y="3615260"/>
            <a:ext cx="15574969" cy="356052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US" dirty="0">
                <a:latin typeface="Montserrat" panose="00000500000000000000" pitchFamily="2" charset="0"/>
              </a:rPr>
              <a:t>In Python, there are several built-in data structures that are frequently used to store and manage data.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5ADF0-614F-568F-C36D-EF36EFE55022}"/>
              </a:ext>
            </a:extLst>
          </p:cNvPr>
          <p:cNvSpPr txBox="1"/>
          <p:nvPr/>
        </p:nvSpPr>
        <p:spPr>
          <a:xfrm>
            <a:off x="9982200" y="6365365"/>
            <a:ext cx="4648416" cy="8004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974" tIns="44475" rIns="88974" bIns="44475" rtlCol="0" anchor="t" anchorCtr="0">
            <a:noAutofit/>
          </a:bodyPr>
          <a:lstStyle/>
          <a:p>
            <a:pPr algn="ctr">
              <a:buClr>
                <a:schemeClr val="dk2"/>
              </a:buClr>
              <a:buSzPts val="2800"/>
            </a:pPr>
            <a:r>
              <a:rPr lang="en-US" sz="3200" dirty="0">
                <a:latin typeface="Montserrat" panose="00000500000000000000" pitchFamily="2" charset="0"/>
              </a:rPr>
              <a:t>Non-Primitive Data Types</a:t>
            </a:r>
            <a:endParaRPr lang="en-ID" sz="3200" dirty="0"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FFB374-F3DD-AF96-9E3D-1B4607835AA5}"/>
              </a:ext>
            </a:extLst>
          </p:cNvPr>
          <p:cNvSpPr txBox="1"/>
          <p:nvPr/>
        </p:nvSpPr>
        <p:spPr>
          <a:xfrm>
            <a:off x="3913030" y="6344253"/>
            <a:ext cx="3411233" cy="5191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974" tIns="44475" rIns="88974" bIns="44475" rtlCol="0" anchor="t" anchorCtr="0">
            <a:noAutofit/>
          </a:bodyPr>
          <a:lstStyle/>
          <a:p>
            <a:pPr algn="ctr">
              <a:buClr>
                <a:schemeClr val="dk2"/>
              </a:buClr>
              <a:buSzPts val="2800"/>
            </a:pPr>
            <a:r>
              <a:rPr lang="en-US" sz="3200" dirty="0">
                <a:latin typeface="Montserrat" panose="00000500000000000000" pitchFamily="2" charset="0"/>
              </a:rPr>
              <a:t>Primitive Data Types</a:t>
            </a:r>
            <a:endParaRPr lang="en-ID" sz="3200" dirty="0">
              <a:latin typeface="Montserrat" panose="00000500000000000000" pitchFamily="2" charset="0"/>
            </a:endParaRPr>
          </a:p>
        </p:txBody>
      </p:sp>
      <p:sp>
        <p:nvSpPr>
          <p:cNvPr id="12" name="Rectangle 11" descr="Table">
            <a:extLst>
              <a:ext uri="{FF2B5EF4-FFF2-40B4-BE49-F238E27FC236}">
                <a16:creationId xmlns:a16="http://schemas.microsoft.com/office/drawing/2014/main" id="{68F00C5D-C491-0C7E-0E09-42AD38423CB1}"/>
              </a:ext>
            </a:extLst>
          </p:cNvPr>
          <p:cNvSpPr/>
          <p:nvPr/>
        </p:nvSpPr>
        <p:spPr>
          <a:xfrm>
            <a:off x="2526492" y="6083393"/>
            <a:ext cx="1357230" cy="1544295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D" sz="1817"/>
          </a:p>
        </p:txBody>
      </p:sp>
      <p:sp>
        <p:nvSpPr>
          <p:cNvPr id="13" name="Rectangle 12" descr="Server">
            <a:extLst>
              <a:ext uri="{FF2B5EF4-FFF2-40B4-BE49-F238E27FC236}">
                <a16:creationId xmlns:a16="http://schemas.microsoft.com/office/drawing/2014/main" id="{AF3F3E8D-E823-BA33-00A3-9858AC3643A9}"/>
              </a:ext>
            </a:extLst>
          </p:cNvPr>
          <p:cNvSpPr/>
          <p:nvPr/>
        </p:nvSpPr>
        <p:spPr>
          <a:xfrm>
            <a:off x="8690126" y="6273038"/>
            <a:ext cx="1292074" cy="1180632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Google Shape;77;p2">
            <a:extLst>
              <a:ext uri="{FF2B5EF4-FFF2-40B4-BE49-F238E27FC236}">
                <a16:creationId xmlns:a16="http://schemas.microsoft.com/office/drawing/2014/main" id="{0F5F0DFD-0ABE-FC38-544F-98A8CF7B666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6170300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CFC4D-9A4B-2BCD-936C-62D34A74E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8F657E-AC5A-24CF-DBC8-B908163D1E6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60D9687-78C0-7D33-0416-BC4B889925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7E4859-C7F8-4BCD-9C77-6C2B08AA8F1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03CD78-6ECB-4CF8-5AD6-B4A4520D84E9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B0753D-D260-62B6-8E80-4DF475FEC6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735599-2F7D-8FFD-3582-AEFB036A701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109D569-916D-66CE-C2FA-EA213AB013F8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330D403-9BDD-FDA7-65FF-169BE3485519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Primitive Data Types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F4FA30-A805-CFCC-2E62-A3F4301AB279}"/>
              </a:ext>
            </a:extLst>
          </p:cNvPr>
          <p:cNvGrpSpPr/>
          <p:nvPr/>
        </p:nvGrpSpPr>
        <p:grpSpPr>
          <a:xfrm>
            <a:off x="2819400" y="2400300"/>
            <a:ext cx="10602383" cy="5759575"/>
            <a:chOff x="3927493" y="2075657"/>
            <a:chExt cx="7701591" cy="387874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0653DB2-55DA-D825-D957-E78074E46ED0}"/>
                </a:ext>
              </a:extLst>
            </p:cNvPr>
            <p:cNvGrpSpPr/>
            <p:nvPr/>
          </p:nvGrpSpPr>
          <p:grpSpPr>
            <a:xfrm>
              <a:off x="4039394" y="2075657"/>
              <a:ext cx="7335360" cy="3878748"/>
              <a:chOff x="3124994" y="1778307"/>
              <a:chExt cx="7335360" cy="3878748"/>
            </a:xfrm>
          </p:grpSpPr>
          <p:grpSp>
            <p:nvGrpSpPr>
              <p:cNvPr id="21" name="Google Shape;13181;p86">
                <a:extLst>
                  <a:ext uri="{FF2B5EF4-FFF2-40B4-BE49-F238E27FC236}">
                    <a16:creationId xmlns:a16="http://schemas.microsoft.com/office/drawing/2014/main" id="{7BF36747-1B85-A5A4-CF91-713B52BB1514}"/>
                  </a:ext>
                </a:extLst>
              </p:cNvPr>
              <p:cNvGrpSpPr/>
              <p:nvPr/>
            </p:nvGrpSpPr>
            <p:grpSpPr>
              <a:xfrm>
                <a:off x="3124994" y="1778307"/>
                <a:ext cx="7335360" cy="3878748"/>
                <a:chOff x="1187400" y="2488845"/>
                <a:chExt cx="5923940" cy="2282356"/>
              </a:xfrm>
            </p:grpSpPr>
            <p:sp>
              <p:nvSpPr>
                <p:cNvPr id="25" name="Google Shape;13182;p86">
                  <a:extLst>
                    <a:ext uri="{FF2B5EF4-FFF2-40B4-BE49-F238E27FC236}">
                      <a16:creationId xmlns:a16="http://schemas.microsoft.com/office/drawing/2014/main" id="{1F2B43B4-6B65-1016-C3CD-10D71E408A38}"/>
                    </a:ext>
                  </a:extLst>
                </p:cNvPr>
                <p:cNvSpPr/>
                <p:nvPr/>
              </p:nvSpPr>
              <p:spPr>
                <a:xfrm>
                  <a:off x="3802943" y="2488845"/>
                  <a:ext cx="1538100" cy="48295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6" name="Google Shape;13183;p86">
                  <a:extLst>
                    <a:ext uri="{FF2B5EF4-FFF2-40B4-BE49-F238E27FC236}">
                      <a16:creationId xmlns:a16="http://schemas.microsoft.com/office/drawing/2014/main" id="{975EB63B-7C77-D898-08DB-AAAB62C8DA4C}"/>
                    </a:ext>
                  </a:extLst>
                </p:cNvPr>
                <p:cNvSpPr/>
                <p:nvPr/>
              </p:nvSpPr>
              <p:spPr>
                <a:xfrm>
                  <a:off x="5573240" y="3429000"/>
                  <a:ext cx="1538100" cy="442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70C0"/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pPr algn="ctr"/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7" name="Google Shape;13184;p86">
                  <a:extLst>
                    <a:ext uri="{FF2B5EF4-FFF2-40B4-BE49-F238E27FC236}">
                      <a16:creationId xmlns:a16="http://schemas.microsoft.com/office/drawing/2014/main" id="{F05948CA-60AA-3DB5-9965-64F94AE4D942}"/>
                    </a:ext>
                  </a:extLst>
                </p:cNvPr>
                <p:cNvSpPr/>
                <p:nvPr/>
              </p:nvSpPr>
              <p:spPr>
                <a:xfrm>
                  <a:off x="2032647" y="3429000"/>
                  <a:ext cx="1538100" cy="442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70C0"/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pPr algn="ctr"/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Google Shape;13185;p86">
                  <a:extLst>
                    <a:ext uri="{FF2B5EF4-FFF2-40B4-BE49-F238E27FC236}">
                      <a16:creationId xmlns:a16="http://schemas.microsoft.com/office/drawing/2014/main" id="{E5ED4EB5-B174-C646-78DA-81996B0AE434}"/>
                    </a:ext>
                  </a:extLst>
                </p:cNvPr>
                <p:cNvSpPr/>
                <p:nvPr/>
              </p:nvSpPr>
              <p:spPr>
                <a:xfrm>
                  <a:off x="1187400" y="4328701"/>
                  <a:ext cx="1538100" cy="4425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pPr algn="ctr"/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9" name="Google Shape;13186;p86">
                  <a:extLst>
                    <a:ext uri="{FF2B5EF4-FFF2-40B4-BE49-F238E27FC236}">
                      <a16:creationId xmlns:a16="http://schemas.microsoft.com/office/drawing/2014/main" id="{295AF154-55BF-D812-64EF-37632CE82049}"/>
                    </a:ext>
                  </a:extLst>
                </p:cNvPr>
                <p:cNvSpPr/>
                <p:nvPr/>
              </p:nvSpPr>
              <p:spPr>
                <a:xfrm>
                  <a:off x="2877893" y="4328701"/>
                  <a:ext cx="1538100" cy="442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A6A6"/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pPr algn="ctr"/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" name="Google Shape;13187;p86">
                  <a:extLst>
                    <a:ext uri="{FF2B5EF4-FFF2-40B4-BE49-F238E27FC236}">
                      <a16:creationId xmlns:a16="http://schemas.microsoft.com/office/drawing/2014/main" id="{BE44242A-A1B8-7B0F-3291-F9FB0C7E4D0D}"/>
                    </a:ext>
                  </a:extLst>
                </p:cNvPr>
                <p:cNvSpPr/>
                <p:nvPr/>
              </p:nvSpPr>
              <p:spPr>
                <a:xfrm>
                  <a:off x="4571992" y="4311590"/>
                  <a:ext cx="1538100" cy="4425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A6A6A6"/>
                </a:solidFill>
                <a:ln>
                  <a:noFill/>
                </a:ln>
              </p:spPr>
              <p:txBody>
                <a:bodyPr spcFirstLastPara="1" wrap="square" lIns="88974" tIns="88974" rIns="88974" bIns="88974" anchor="ctr" anchorCtr="0">
                  <a:noAutofit/>
                </a:bodyPr>
                <a:lstStyle/>
                <a:p>
                  <a:pPr algn="ctr"/>
                  <a:endParaRPr sz="1817">
                    <a:solidFill>
                      <a:srgbClr val="FFFFFF"/>
                    </a:solidFill>
                  </a:endParaRPr>
                </a:p>
              </p:txBody>
            </p:sp>
            <p:cxnSp>
              <p:nvCxnSpPr>
                <p:cNvPr id="31" name="Google Shape;13189;p86">
                  <a:extLst>
                    <a:ext uri="{FF2B5EF4-FFF2-40B4-BE49-F238E27FC236}">
                      <a16:creationId xmlns:a16="http://schemas.microsoft.com/office/drawing/2014/main" id="{59D7B62E-433C-0CE2-EEBA-2D173D607C91}"/>
                    </a:ext>
                  </a:extLst>
                </p:cNvPr>
                <p:cNvCxnSpPr>
                  <a:stCxn id="25" idx="2"/>
                  <a:endCxn id="26" idx="0"/>
                </p:cNvCxnSpPr>
                <p:nvPr/>
              </p:nvCxnSpPr>
              <p:spPr>
                <a:xfrm rot="16200000" flipH="1">
                  <a:off x="5228541" y="2315251"/>
                  <a:ext cx="457201" cy="1770297"/>
                </a:xfrm>
                <a:prstGeom prst="bent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C2C2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2" name="Google Shape;13190;p86">
                  <a:extLst>
                    <a:ext uri="{FF2B5EF4-FFF2-40B4-BE49-F238E27FC236}">
                      <a16:creationId xmlns:a16="http://schemas.microsoft.com/office/drawing/2014/main" id="{782F2967-A59D-9F1D-5575-BE78A5605807}"/>
                    </a:ext>
                  </a:extLst>
                </p:cNvPr>
                <p:cNvCxnSpPr>
                  <a:stCxn id="27" idx="0"/>
                  <a:endCxn id="25" idx="2"/>
                </p:cNvCxnSpPr>
                <p:nvPr/>
              </p:nvCxnSpPr>
              <p:spPr>
                <a:xfrm rot="5400000" flipH="1" flipV="1">
                  <a:off x="3458244" y="2315252"/>
                  <a:ext cx="457201" cy="1770296"/>
                </a:xfrm>
                <a:prstGeom prst="bent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C2C2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3" name="Google Shape;13191;p86">
                  <a:extLst>
                    <a:ext uri="{FF2B5EF4-FFF2-40B4-BE49-F238E27FC236}">
                      <a16:creationId xmlns:a16="http://schemas.microsoft.com/office/drawing/2014/main" id="{9763FC49-BBC6-A990-7458-35C86B881C53}"/>
                    </a:ext>
                  </a:extLst>
                </p:cNvPr>
                <p:cNvCxnSpPr>
                  <a:stCxn id="27" idx="2"/>
                  <a:endCxn id="29" idx="0"/>
                </p:cNvCxnSpPr>
                <p:nvPr/>
              </p:nvCxnSpPr>
              <p:spPr>
                <a:xfrm rot="-5400000" flipH="1">
                  <a:off x="2995647" y="3677550"/>
                  <a:ext cx="457200" cy="845100"/>
                </a:xfrm>
                <a:prstGeom prst="bentConnector3">
                  <a:avLst>
                    <a:gd name="adj1" fmla="val 49967"/>
                  </a:avLst>
                </a:prstGeom>
                <a:noFill/>
                <a:ln w="9525" cap="flat" cmpd="sng">
                  <a:solidFill>
                    <a:srgbClr val="C2C2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4" name="Google Shape;13192;p86">
                  <a:extLst>
                    <a:ext uri="{FF2B5EF4-FFF2-40B4-BE49-F238E27FC236}">
                      <a16:creationId xmlns:a16="http://schemas.microsoft.com/office/drawing/2014/main" id="{4EE9AC96-E762-3963-255D-2B2B4A55C202}"/>
                    </a:ext>
                  </a:extLst>
                </p:cNvPr>
                <p:cNvCxnSpPr>
                  <a:stCxn id="28" idx="0"/>
                  <a:endCxn id="27" idx="2"/>
                </p:cNvCxnSpPr>
                <p:nvPr/>
              </p:nvCxnSpPr>
              <p:spPr>
                <a:xfrm rot="-5400000">
                  <a:off x="2150400" y="3677551"/>
                  <a:ext cx="457200" cy="845100"/>
                </a:xfrm>
                <a:prstGeom prst="bentConnector3">
                  <a:avLst>
                    <a:gd name="adj1" fmla="val 49967"/>
                  </a:avLst>
                </a:prstGeom>
                <a:noFill/>
                <a:ln w="9525" cap="flat" cmpd="sng">
                  <a:solidFill>
                    <a:srgbClr val="C2C2C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cxnSp>
            <p:nvCxnSpPr>
              <p:cNvPr id="22" name="Google Shape;13190;p86">
                <a:extLst>
                  <a:ext uri="{FF2B5EF4-FFF2-40B4-BE49-F238E27FC236}">
                    <a16:creationId xmlns:a16="http://schemas.microsoft.com/office/drawing/2014/main" id="{1B731F76-36F1-1EAD-08FF-0208ACEA1E38}"/>
                  </a:ext>
                </a:extLst>
              </p:cNvPr>
              <p:cNvCxnSpPr/>
              <p:nvPr/>
            </p:nvCxnSpPr>
            <p:spPr>
              <a:xfrm rot="5400000" flipH="1" flipV="1">
                <a:off x="6961844" y="3330041"/>
                <a:ext cx="708287" cy="1"/>
              </a:xfrm>
              <a:prstGeom prst="bent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" name="Google Shape;13184;p86">
                <a:extLst>
                  <a:ext uri="{FF2B5EF4-FFF2-40B4-BE49-F238E27FC236}">
                    <a16:creationId xmlns:a16="http://schemas.microsoft.com/office/drawing/2014/main" id="{7AB3216D-9FB6-5DBA-78E5-9162EF757439}"/>
                  </a:ext>
                </a:extLst>
              </p:cNvPr>
              <p:cNvSpPr/>
              <p:nvPr/>
            </p:nvSpPr>
            <p:spPr>
              <a:xfrm>
                <a:off x="6414184" y="3369832"/>
                <a:ext cx="1904563" cy="752006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spcFirstLastPara="1" wrap="square" lIns="88974" tIns="88974" rIns="88974" bIns="88974" anchor="ctr" anchorCtr="0">
                <a:noAutofit/>
              </a:bodyPr>
              <a:lstStyle/>
              <a:p>
                <a:pPr algn="ctr"/>
                <a:endParaRPr sz="1817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24" name="Google Shape;13191;p86">
                <a:extLst>
                  <a:ext uri="{FF2B5EF4-FFF2-40B4-BE49-F238E27FC236}">
                    <a16:creationId xmlns:a16="http://schemas.microsoft.com/office/drawing/2014/main" id="{AAF60F2A-CF5C-D1DB-5BA6-1C909280F614}"/>
                  </a:ext>
                </a:extLst>
              </p:cNvPr>
              <p:cNvCxnSpPr/>
              <p:nvPr/>
            </p:nvCxnSpPr>
            <p:spPr>
              <a:xfrm>
                <a:off x="6076010" y="4515774"/>
                <a:ext cx="2192260" cy="388493"/>
              </a:xfrm>
              <a:prstGeom prst="bentConnector3">
                <a:avLst>
                  <a:gd name="adj1" fmla="val 101259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516E6-37D8-C3F4-0775-F82F75F682C8}"/>
                </a:ext>
              </a:extLst>
            </p:cNvPr>
            <p:cNvSpPr txBox="1"/>
            <p:nvPr/>
          </p:nvSpPr>
          <p:spPr>
            <a:xfrm>
              <a:off x="7120445" y="2096771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lnSpc>
                  <a:spcPct val="150000"/>
                </a:lnSpc>
                <a:buClr>
                  <a:schemeClr val="dk2"/>
                </a:buClr>
                <a:buSzPts val="2800"/>
              </a:pPr>
              <a:r>
                <a:rPr lang="en-US" sz="2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Primitive Data Types</a:t>
              </a:r>
              <a:endParaRPr lang="en-ID" sz="2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08C59D-342F-B092-50A3-0C9572935D2E}"/>
                </a:ext>
              </a:extLst>
            </p:cNvPr>
            <p:cNvSpPr txBox="1"/>
            <p:nvPr/>
          </p:nvSpPr>
          <p:spPr>
            <a:xfrm>
              <a:off x="4865005" y="3812932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Numbers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8E39857-785B-0D5D-8167-B78B2722C7F2}"/>
                </a:ext>
              </a:extLst>
            </p:cNvPr>
            <p:cNvSpPr txBox="1"/>
            <p:nvPr/>
          </p:nvSpPr>
          <p:spPr>
            <a:xfrm>
              <a:off x="7151005" y="3812932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String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C2A5C6-883A-0A98-F802-F24A3D2AC804}"/>
                </a:ext>
              </a:extLst>
            </p:cNvPr>
            <p:cNvSpPr txBox="1"/>
            <p:nvPr/>
          </p:nvSpPr>
          <p:spPr>
            <a:xfrm>
              <a:off x="9343084" y="3812932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Boolean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96C5EB-5E62-E58A-4A2E-2D1159E5CF3C}"/>
                </a:ext>
              </a:extLst>
            </p:cNvPr>
            <p:cNvSpPr txBox="1"/>
            <p:nvPr/>
          </p:nvSpPr>
          <p:spPr>
            <a:xfrm>
              <a:off x="3927493" y="5322375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Integer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767617-58E3-9E3C-92A1-795B725789D8}"/>
                </a:ext>
              </a:extLst>
            </p:cNvPr>
            <p:cNvSpPr txBox="1"/>
            <p:nvPr/>
          </p:nvSpPr>
          <p:spPr>
            <a:xfrm>
              <a:off x="5955984" y="5322375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Float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49C812-6811-CBBB-A18E-C566B6B3EDDC}"/>
                </a:ext>
              </a:extLst>
            </p:cNvPr>
            <p:cNvSpPr txBox="1"/>
            <p:nvPr/>
          </p:nvSpPr>
          <p:spPr>
            <a:xfrm>
              <a:off x="8090147" y="5322375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3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Complex</a:t>
              </a:r>
              <a:endParaRPr lang="en-ID" sz="3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4696F5D5-850A-C7D0-D499-30EDD43DB7AA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8759132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0A75F-3167-6D21-3FE4-3002695A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hlinkClick r:id="rId3"/>
            <a:extLst>
              <a:ext uri="{FF2B5EF4-FFF2-40B4-BE49-F238E27FC236}">
                <a16:creationId xmlns:a16="http://schemas.microsoft.com/office/drawing/2014/main" id="{2D3800BE-3F88-8D59-2385-23CAEEAC7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7278345"/>
            <a:ext cx="5791200" cy="2790405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98F19430-BF9A-DA45-DEB1-7402383F41A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396550-72CE-6962-DA8B-3386FFD30D9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CE96789-0F2F-4B8C-626E-A143634EFF5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FFABE86-A67A-E4C0-C03F-125BF726A2C8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8C7E08-6855-D69D-4F7D-3EF5C028D9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A9AC9C4-90B3-8AB4-593C-050733CC82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405E035-31DE-222E-3D16-3A6FB29C058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ED35D0C-5DA9-BFAD-DD23-DE347EE93738}"/>
              </a:ext>
            </a:extLst>
          </p:cNvPr>
          <p:cNvSpPr txBox="1"/>
          <p:nvPr/>
        </p:nvSpPr>
        <p:spPr>
          <a:xfrm>
            <a:off x="1658293" y="63292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Primitive Data Types</a:t>
            </a:r>
          </a:p>
        </p:txBody>
      </p:sp>
      <p:pic>
        <p:nvPicPr>
          <p:cNvPr id="41" name="Picture 40">
            <a:hlinkClick r:id="rId6"/>
            <a:extLst>
              <a:ext uri="{FF2B5EF4-FFF2-40B4-BE49-F238E27FC236}">
                <a16:creationId xmlns:a16="http://schemas.microsoft.com/office/drawing/2014/main" id="{939A27B6-A976-C9D1-BF69-C277636A1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825161"/>
            <a:ext cx="7871607" cy="4059571"/>
          </a:xfrm>
          <a:prstGeom prst="rect">
            <a:avLst/>
          </a:prstGeom>
        </p:spPr>
      </p:pic>
      <p:pic>
        <p:nvPicPr>
          <p:cNvPr id="43" name="Picture 42">
            <a:hlinkClick r:id="rId8"/>
            <a:extLst>
              <a:ext uri="{FF2B5EF4-FFF2-40B4-BE49-F238E27FC236}">
                <a16:creationId xmlns:a16="http://schemas.microsoft.com/office/drawing/2014/main" id="{51D304C5-C981-57D0-A102-6F8FFE4668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962" y="6177340"/>
            <a:ext cx="7703601" cy="2928560"/>
          </a:xfrm>
          <a:prstGeom prst="rect">
            <a:avLst/>
          </a:prstGeom>
        </p:spPr>
      </p:pic>
      <p:pic>
        <p:nvPicPr>
          <p:cNvPr id="45" name="Picture 44">
            <a:hlinkClick r:id="rId10"/>
            <a:extLst>
              <a:ext uri="{FF2B5EF4-FFF2-40B4-BE49-F238E27FC236}">
                <a16:creationId xmlns:a16="http://schemas.microsoft.com/office/drawing/2014/main" id="{0BF06EE2-E6D0-E7B0-A1A4-CB8CF90FB3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2624" y="1290230"/>
            <a:ext cx="6553200" cy="3282634"/>
          </a:xfrm>
          <a:prstGeom prst="rect">
            <a:avLst/>
          </a:prstGeom>
        </p:spPr>
      </p:pic>
      <p:pic>
        <p:nvPicPr>
          <p:cNvPr id="47" name="Picture 46">
            <a:hlinkClick r:id="rId12"/>
            <a:extLst>
              <a:ext uri="{FF2B5EF4-FFF2-40B4-BE49-F238E27FC236}">
                <a16:creationId xmlns:a16="http://schemas.microsoft.com/office/drawing/2014/main" id="{496BD567-9DC2-3C76-DDC0-B3E5827430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12624" y="4692099"/>
            <a:ext cx="6553200" cy="2313983"/>
          </a:xfrm>
          <a:prstGeom prst="rect">
            <a:avLst/>
          </a:prstGeom>
        </p:spPr>
      </p:pic>
      <p:pic>
        <p:nvPicPr>
          <p:cNvPr id="50" name="Google Shape;77;p2">
            <a:extLst>
              <a:ext uri="{FF2B5EF4-FFF2-40B4-BE49-F238E27FC236}">
                <a16:creationId xmlns:a16="http://schemas.microsoft.com/office/drawing/2014/main" id="{06492CEA-196A-E375-8BC7-46EA78AEC77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05127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86FDF-7D5A-F550-C60B-4FF31B0D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9BE5FE-2523-BF0F-D864-8F7AD0C478D1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61A8E5-461B-EC20-23FC-E9A058DE11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505CF7-3F6A-F79C-C344-B199666BBE1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4970E4B-0AEE-DAED-B590-6C2DE010243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B624ABC-BFDE-4E40-1EBD-CDC9A3CDE0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24FEAE-E3A8-D149-0369-7E5F21C797D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0A7260A-F106-C215-0367-96E86A515DC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D5A7926-4C7F-4F12-1D9F-43B4CE694476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BCAB78BF-AFFE-6D9E-5B75-E49390C099B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F08FE90-8F67-6969-211B-F0E2BFE35FA4}"/>
              </a:ext>
            </a:extLst>
          </p:cNvPr>
          <p:cNvGrpSpPr/>
          <p:nvPr/>
        </p:nvGrpSpPr>
        <p:grpSpPr>
          <a:xfrm>
            <a:off x="3276600" y="2628900"/>
            <a:ext cx="9753600" cy="3124200"/>
            <a:chOff x="4173508" y="2188288"/>
            <a:chExt cx="7790686" cy="225275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F1EFEBE-146D-E477-75C9-3157F3E6CA3E}"/>
                </a:ext>
              </a:extLst>
            </p:cNvPr>
            <p:cNvCxnSpPr/>
            <p:nvPr/>
          </p:nvCxnSpPr>
          <p:spPr>
            <a:xfrm>
              <a:off x="7849394" y="2761456"/>
              <a:ext cx="0" cy="685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8B895B1-5752-97A9-5553-AA945CAF8F3A}"/>
                </a:ext>
              </a:extLst>
            </p:cNvPr>
            <p:cNvCxnSpPr>
              <a:cxnSpLocks/>
            </p:cNvCxnSpPr>
            <p:nvPr/>
          </p:nvCxnSpPr>
          <p:spPr>
            <a:xfrm>
              <a:off x="5125789" y="3447256"/>
              <a:ext cx="577160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598D38-CC6C-CA33-1262-BCE61FDBD56C}"/>
                </a:ext>
              </a:extLst>
            </p:cNvPr>
            <p:cNvCxnSpPr/>
            <p:nvPr/>
          </p:nvCxnSpPr>
          <p:spPr>
            <a:xfrm>
              <a:off x="5124482" y="3447256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B2A6237-FED9-A708-7482-E5484E1D816D}"/>
                </a:ext>
              </a:extLst>
            </p:cNvPr>
            <p:cNvCxnSpPr/>
            <p:nvPr/>
          </p:nvCxnSpPr>
          <p:spPr>
            <a:xfrm>
              <a:off x="7011194" y="3447256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EEC61BC-516A-B66B-1F21-588563DADD16}"/>
                </a:ext>
              </a:extLst>
            </p:cNvPr>
            <p:cNvCxnSpPr/>
            <p:nvPr/>
          </p:nvCxnSpPr>
          <p:spPr>
            <a:xfrm>
              <a:off x="9068594" y="3447256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27D3AE8-61A5-B1DD-95F4-6C89C6D41556}"/>
                </a:ext>
              </a:extLst>
            </p:cNvPr>
            <p:cNvCxnSpPr/>
            <p:nvPr/>
          </p:nvCxnSpPr>
          <p:spPr>
            <a:xfrm>
              <a:off x="10897394" y="3447256"/>
              <a:ext cx="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Google Shape;13184;p86">
              <a:extLst>
                <a:ext uri="{FF2B5EF4-FFF2-40B4-BE49-F238E27FC236}">
                  <a16:creationId xmlns:a16="http://schemas.microsoft.com/office/drawing/2014/main" id="{8D0368C5-9618-143E-9879-A90A0656D2F5}"/>
                </a:ext>
              </a:extLst>
            </p:cNvPr>
            <p:cNvSpPr/>
            <p:nvPr/>
          </p:nvSpPr>
          <p:spPr>
            <a:xfrm>
              <a:off x="4173508" y="3689036"/>
              <a:ext cx="1904563" cy="752006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88974" tIns="88974" rIns="88974" bIns="88974" anchor="ctr" anchorCtr="0">
              <a:noAutofit/>
            </a:bodyPr>
            <a:lstStyle/>
            <a:p>
              <a:pPr algn="ctr"/>
              <a:endParaRPr sz="1817">
                <a:solidFill>
                  <a:srgbClr val="FFFFFF"/>
                </a:solidFill>
              </a:endParaRPr>
            </a:p>
          </p:txBody>
        </p:sp>
        <p:sp>
          <p:nvSpPr>
            <p:cNvPr id="43" name="Google Shape;13184;p86">
              <a:extLst>
                <a:ext uri="{FF2B5EF4-FFF2-40B4-BE49-F238E27FC236}">
                  <a16:creationId xmlns:a16="http://schemas.microsoft.com/office/drawing/2014/main" id="{945C8A5C-88EE-DA59-077C-6BF65891AC41}"/>
                </a:ext>
              </a:extLst>
            </p:cNvPr>
            <p:cNvSpPr/>
            <p:nvPr/>
          </p:nvSpPr>
          <p:spPr>
            <a:xfrm>
              <a:off x="6135549" y="3684038"/>
              <a:ext cx="1904563" cy="752006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88974" tIns="88974" rIns="88974" bIns="88974" anchor="ctr" anchorCtr="0">
              <a:noAutofit/>
            </a:bodyPr>
            <a:lstStyle/>
            <a:p>
              <a:pPr algn="ctr"/>
              <a:endParaRPr sz="1817">
                <a:solidFill>
                  <a:srgbClr val="FFFFFF"/>
                </a:solidFill>
              </a:endParaRPr>
            </a:p>
          </p:txBody>
        </p:sp>
        <p:sp>
          <p:nvSpPr>
            <p:cNvPr id="44" name="Google Shape;13184;p86">
              <a:extLst>
                <a:ext uri="{FF2B5EF4-FFF2-40B4-BE49-F238E27FC236}">
                  <a16:creationId xmlns:a16="http://schemas.microsoft.com/office/drawing/2014/main" id="{E404D923-D0CC-283B-4395-DE4EE08E2CCB}"/>
                </a:ext>
              </a:extLst>
            </p:cNvPr>
            <p:cNvSpPr/>
            <p:nvPr/>
          </p:nvSpPr>
          <p:spPr>
            <a:xfrm>
              <a:off x="8097590" y="3685000"/>
              <a:ext cx="1904563" cy="752006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88974" tIns="88974" rIns="88974" bIns="88974" anchor="ctr" anchorCtr="0">
              <a:noAutofit/>
            </a:bodyPr>
            <a:lstStyle/>
            <a:p>
              <a:pPr algn="ctr"/>
              <a:endParaRPr sz="1817">
                <a:solidFill>
                  <a:srgbClr val="FFFFFF"/>
                </a:solidFill>
              </a:endParaRPr>
            </a:p>
          </p:txBody>
        </p:sp>
        <p:sp>
          <p:nvSpPr>
            <p:cNvPr id="45" name="Google Shape;13184;p86">
              <a:extLst>
                <a:ext uri="{FF2B5EF4-FFF2-40B4-BE49-F238E27FC236}">
                  <a16:creationId xmlns:a16="http://schemas.microsoft.com/office/drawing/2014/main" id="{0279A014-0F89-289D-9B4A-31207A397E81}"/>
                </a:ext>
              </a:extLst>
            </p:cNvPr>
            <p:cNvSpPr/>
            <p:nvPr/>
          </p:nvSpPr>
          <p:spPr>
            <a:xfrm>
              <a:off x="10059631" y="3675856"/>
              <a:ext cx="1904563" cy="752006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88974" tIns="88974" rIns="88974" bIns="88974" anchor="ctr" anchorCtr="0">
              <a:noAutofit/>
            </a:bodyPr>
            <a:lstStyle/>
            <a:p>
              <a:pPr algn="ctr"/>
              <a:endParaRPr sz="1817">
                <a:solidFill>
                  <a:srgbClr val="FFFFFF"/>
                </a:solidFill>
              </a:endParaRPr>
            </a:p>
          </p:txBody>
        </p:sp>
        <p:sp>
          <p:nvSpPr>
            <p:cNvPr id="46" name="Google Shape;13184;p86">
              <a:extLst>
                <a:ext uri="{FF2B5EF4-FFF2-40B4-BE49-F238E27FC236}">
                  <a16:creationId xmlns:a16="http://schemas.microsoft.com/office/drawing/2014/main" id="{4BB7E250-0B51-1424-18CA-47852D0EE19F}"/>
                </a:ext>
              </a:extLst>
            </p:cNvPr>
            <p:cNvSpPr/>
            <p:nvPr/>
          </p:nvSpPr>
          <p:spPr>
            <a:xfrm>
              <a:off x="5808093" y="2188288"/>
              <a:ext cx="4082601" cy="752005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88974" tIns="88974" rIns="88974" bIns="88974" anchor="ctr" anchorCtr="0">
              <a:noAutofit/>
            </a:bodyPr>
            <a:lstStyle/>
            <a:p>
              <a:pPr algn="ctr"/>
              <a:endParaRPr sz="1817" dirty="0">
                <a:solidFill>
                  <a:srgbClr val="FFFFFF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D05790-12EB-945B-1C3B-92615FD864CF}"/>
                </a:ext>
              </a:extLst>
            </p:cNvPr>
            <p:cNvSpPr txBox="1"/>
            <p:nvPr/>
          </p:nvSpPr>
          <p:spPr>
            <a:xfrm>
              <a:off x="6325393" y="2352834"/>
              <a:ext cx="3048000" cy="383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2400" b="1" dirty="0">
                  <a:solidFill>
                    <a:schemeClr val="bg1"/>
                  </a:solidFill>
                  <a:latin typeface="Montserrat" panose="00000500000000000000" pitchFamily="2" charset="0"/>
                  <a:cs typeface="Courier New"/>
                </a:rPr>
                <a:t>Non-Primitive Data Types</a:t>
              </a:r>
              <a:endParaRPr lang="en-ID" sz="2400" b="1" dirty="0" err="1">
                <a:solidFill>
                  <a:schemeClr val="bg1"/>
                </a:solidFill>
                <a:latin typeface="Montserrat" panose="00000500000000000000" pitchFamily="2" charset="0"/>
                <a:cs typeface="Courier New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71472D-CDF3-D643-E10C-1E0484026603}"/>
                </a:ext>
              </a:extLst>
            </p:cNvPr>
            <p:cNvSpPr txBox="1"/>
            <p:nvPr/>
          </p:nvSpPr>
          <p:spPr>
            <a:xfrm>
              <a:off x="4267994" y="3785159"/>
              <a:ext cx="1718295" cy="53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2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List</a:t>
              </a:r>
              <a:endParaRPr lang="en-ID" sz="2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9FF46E-78C9-3841-CD0C-A8123E31BE85}"/>
                </a:ext>
              </a:extLst>
            </p:cNvPr>
            <p:cNvSpPr txBox="1"/>
            <p:nvPr/>
          </p:nvSpPr>
          <p:spPr>
            <a:xfrm>
              <a:off x="6249195" y="3785159"/>
              <a:ext cx="1756614" cy="53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2600" b="1" dirty="0" err="1">
                  <a:solidFill>
                    <a:schemeClr val="bg1"/>
                  </a:solidFill>
                  <a:latin typeface="Montserrat" panose="00000500000000000000" pitchFamily="2" charset="0"/>
                </a:rPr>
                <a:t>Tupple</a:t>
              </a:r>
              <a:endParaRPr lang="en-ID" sz="2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3C686EF-34FE-678A-B6E1-F12EADF5AB2F}"/>
                </a:ext>
              </a:extLst>
            </p:cNvPr>
            <p:cNvSpPr txBox="1"/>
            <p:nvPr/>
          </p:nvSpPr>
          <p:spPr>
            <a:xfrm>
              <a:off x="8135722" y="3785159"/>
              <a:ext cx="1869343" cy="53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2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Dictionary</a:t>
              </a:r>
              <a:endParaRPr lang="en-ID" sz="2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26815DA-BEF5-4325-DEAD-84D7FD6E6BA5}"/>
                </a:ext>
              </a:extLst>
            </p:cNvPr>
            <p:cNvSpPr txBox="1"/>
            <p:nvPr/>
          </p:nvSpPr>
          <p:spPr>
            <a:xfrm>
              <a:off x="10094851" y="3785159"/>
              <a:ext cx="1869343" cy="533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88974" tIns="44475" rIns="88974" bIns="44475" rtlCol="0" anchor="t" anchorCtr="0">
              <a:noAutofit/>
            </a:bodyPr>
            <a:lstStyle/>
            <a:p>
              <a:pPr algn="ctr">
                <a:buClr>
                  <a:schemeClr val="dk2"/>
                </a:buClr>
                <a:buSzPts val="2800"/>
              </a:pPr>
              <a:r>
                <a:rPr lang="en-US" sz="2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Set</a:t>
              </a:r>
              <a:endParaRPr lang="en-ID" sz="2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39E7EC42-320A-53EB-855C-A0C30594A594}"/>
              </a:ext>
            </a:extLst>
          </p:cNvPr>
          <p:cNvSpPr txBox="1"/>
          <p:nvPr/>
        </p:nvSpPr>
        <p:spPr>
          <a:xfrm>
            <a:off x="1048515" y="7098428"/>
            <a:ext cx="13411200" cy="148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latin typeface="Montserrat" panose="00000500000000000000" pitchFamily="2" charset="0"/>
              </a:rPr>
              <a:t>List, dictionary, and set </a:t>
            </a:r>
            <a:r>
              <a:rPr lang="en-US" sz="3200" dirty="0">
                <a:latin typeface="Montserrat" panose="00000500000000000000" pitchFamily="2" charset="0"/>
              </a:rPr>
              <a:t>data types are </a:t>
            </a:r>
            <a:r>
              <a:rPr lang="en-US" sz="3200" b="1" dirty="0">
                <a:latin typeface="Montserrat" panose="00000500000000000000" pitchFamily="2" charset="0"/>
              </a:rPr>
              <a:t>mutable data types</a:t>
            </a:r>
            <a:r>
              <a:rPr lang="en-US" sz="3200" dirty="0">
                <a:latin typeface="Montserrat" panose="00000500000000000000" pitchFamily="2" charset="0"/>
              </a:rPr>
              <a:t>, while </a:t>
            </a:r>
            <a:r>
              <a:rPr lang="en-US" sz="3200" b="1" dirty="0">
                <a:latin typeface="Montserrat" panose="00000500000000000000" pitchFamily="2" charset="0"/>
              </a:rPr>
              <a:t>tuple</a:t>
            </a:r>
            <a:r>
              <a:rPr lang="en-US" sz="3200" dirty="0">
                <a:latin typeface="Montserrat" panose="00000500000000000000" pitchFamily="2" charset="0"/>
              </a:rPr>
              <a:t> data types are </a:t>
            </a:r>
            <a:r>
              <a:rPr lang="en-US" sz="3200" b="1" dirty="0">
                <a:latin typeface="Montserrat" panose="00000500000000000000" pitchFamily="2" charset="0"/>
              </a:rPr>
              <a:t>immutable</a:t>
            </a:r>
            <a:r>
              <a:rPr lang="en-US" sz="32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39675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7D8FF-E104-2A19-EB5A-57E6BDE9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A1080F8-A668-B1CC-D5E3-56F65C295BC6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3ACD32-833A-EF68-87EE-91A2333B5B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5B3BA4B-6BAD-2D98-D4CB-E94D668FD8D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F5B281D-5F39-7AF7-0E5F-86DAD5714907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5F241D-78BE-28AE-3381-24486884E20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5CDEEC4-A55A-EEAB-1D7D-B08FC0708A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E3D4D637-1E28-0F27-723F-E0673BFA606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42860EA-DC40-3343-7B98-6DFAF63A29E2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49CD2E75-8754-137A-50BE-F4BEFE9E3D9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1D41CB-953D-5699-5704-08F13AE4DFA0}"/>
              </a:ext>
            </a:extLst>
          </p:cNvPr>
          <p:cNvSpPr txBox="1"/>
          <p:nvPr/>
        </p:nvSpPr>
        <p:spPr>
          <a:xfrm>
            <a:off x="1143000" y="1694512"/>
            <a:ext cx="15621000" cy="195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1. List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Values ​​stored in a list can be accessed using the slice operators ( [ ] and [ : ] ) with indices starting at 0 at the beginning of the list. Indexing starts at 0 (left to right).</a:t>
            </a:r>
          </a:p>
        </p:txBody>
      </p:sp>
      <p:pic>
        <p:nvPicPr>
          <p:cNvPr id="16" name="Picture 15">
            <a:hlinkClick r:id="rId5"/>
            <a:extLst>
              <a:ext uri="{FF2B5EF4-FFF2-40B4-BE49-F238E27FC236}">
                <a16:creationId xmlns:a16="http://schemas.microsoft.com/office/drawing/2014/main" id="{DFFFEFAA-DD1A-518A-1B70-3061087ED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4289078"/>
            <a:ext cx="7505833" cy="427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21530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28752-BE27-3508-511A-05DA55FE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4581C37-0443-5FBE-7C11-45423AB600BD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6CE5AA-1FA1-6FCE-2BF4-DE631A0D72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F5CBE0-E6CA-95FB-FA38-9883774AA7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6D65329-1F28-3AC0-F64F-15DEB9D655A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7E63F4E-FF29-B093-A9CA-984A8C21E9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34CE097-4FF1-01A5-FEF8-B6559BF0E4C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6C0F78DB-DFA3-8BB9-10CC-2E3A40A2A19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79E9D05-B1B2-F449-8DC1-F289F1A6C5B7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3FC9F786-2E1E-9A32-DA11-E800B950548C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E36C9E-91A3-D69A-ADB1-D28FFE5CFE5F}"/>
              </a:ext>
            </a:extLst>
          </p:cNvPr>
          <p:cNvSpPr txBox="1"/>
          <p:nvPr/>
        </p:nvSpPr>
        <p:spPr>
          <a:xfrm>
            <a:off x="1143000" y="1694512"/>
            <a:ext cx="15621000" cy="1312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dirty="0">
                <a:latin typeface="Montserrat" panose="00000500000000000000" pitchFamily="2" charset="0"/>
              </a:rPr>
              <a:t>List</a:t>
            </a:r>
          </a:p>
          <a:p>
            <a:pPr marL="1143000" indent="-514350">
              <a:lnSpc>
                <a:spcPct val="150000"/>
              </a:lnSpc>
              <a:buAutoNum type="alphaLcPeriod"/>
            </a:pPr>
            <a:r>
              <a:rPr lang="en-US" sz="2800" dirty="0">
                <a:latin typeface="Montserrat" panose="00000500000000000000" pitchFamily="2" charset="0"/>
              </a:rPr>
              <a:t>Methods on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4B3B83-4DB1-764A-CE0C-FA9BA70E929E}"/>
              </a:ext>
            </a:extLst>
          </p:cNvPr>
          <p:cNvSpPr txBox="1"/>
          <p:nvPr/>
        </p:nvSpPr>
        <p:spPr>
          <a:xfrm>
            <a:off x="2491109" y="3114590"/>
            <a:ext cx="3652922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list.append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F84465-540B-BC10-DFAC-9279CA7F7CFB}"/>
              </a:ext>
            </a:extLst>
          </p:cNvPr>
          <p:cNvSpPr txBox="1"/>
          <p:nvPr/>
        </p:nvSpPr>
        <p:spPr>
          <a:xfrm>
            <a:off x="2465482" y="3884907"/>
            <a:ext cx="4990253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list.insert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(index, </a:t>
            </a:r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E70919-B093-E4AA-82BD-52C778A9F4B0}"/>
              </a:ext>
            </a:extLst>
          </p:cNvPr>
          <p:cNvSpPr txBox="1"/>
          <p:nvPr/>
        </p:nvSpPr>
        <p:spPr>
          <a:xfrm>
            <a:off x="2459620" y="4695847"/>
            <a:ext cx="3652922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list.extend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(list2)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F028B8-924D-E1A2-F409-7290C69AC9C8}"/>
              </a:ext>
            </a:extLst>
          </p:cNvPr>
          <p:cNvSpPr txBox="1"/>
          <p:nvPr/>
        </p:nvSpPr>
        <p:spPr>
          <a:xfrm>
            <a:off x="2459620" y="5417404"/>
            <a:ext cx="499025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list.index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D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D6685-50AE-22C7-EEF7-7E8F01380562}"/>
              </a:ext>
            </a:extLst>
          </p:cNvPr>
          <p:cNvSpPr txBox="1"/>
          <p:nvPr/>
        </p:nvSpPr>
        <p:spPr>
          <a:xfrm>
            <a:off x="2457120" y="6179782"/>
            <a:ext cx="3652921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list.remove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6FF097-9773-B583-32E2-1719488A3F1F}"/>
              </a:ext>
            </a:extLst>
          </p:cNvPr>
          <p:cNvSpPr txBox="1"/>
          <p:nvPr/>
        </p:nvSpPr>
        <p:spPr>
          <a:xfrm>
            <a:off x="2459620" y="6955266"/>
            <a:ext cx="4990253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list.sort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E942A7-DB3D-E91E-618C-612664E994C4}"/>
              </a:ext>
            </a:extLst>
          </p:cNvPr>
          <p:cNvSpPr txBox="1"/>
          <p:nvPr/>
        </p:nvSpPr>
        <p:spPr>
          <a:xfrm>
            <a:off x="2459620" y="7772388"/>
            <a:ext cx="4990253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list.reverse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A16CE5-E216-320E-504C-8E40C98C7542}"/>
              </a:ext>
            </a:extLst>
          </p:cNvPr>
          <p:cNvSpPr txBox="1"/>
          <p:nvPr/>
        </p:nvSpPr>
        <p:spPr>
          <a:xfrm>
            <a:off x="2427812" y="8542894"/>
            <a:ext cx="4990253" cy="449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336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list.pop</a:t>
            </a:r>
            <a:r>
              <a:rPr lang="en-US" sz="2336" b="1" dirty="0">
                <a:latin typeface="Courier New" panose="02070309020205020404" pitchFamily="49" charset="0"/>
                <a:cs typeface="Courier New" panose="02070309020205020404" pitchFamily="49" charset="0"/>
              </a:rPr>
              <a:t>(index)</a:t>
            </a:r>
            <a:endParaRPr lang="en-ID" sz="2336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771114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2D893-9442-085B-D7FF-11DD9495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5DC6CD-6C14-6CCD-BD19-C6EC1D5A17CA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7B1C85-1BBB-F87B-5213-4C345934F2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2C2B415-7B51-6B47-05FC-A6CEDCCCD61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A44E8EE-4788-1EB3-0038-E3910B60EE1C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AC2C91-9A64-7AC7-3E8D-11A0490F8D9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9167DFE-284D-697E-9B65-13AC0A6175E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1253A63-F85D-99A1-CD24-7105D6AA5DA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59C1572-F057-E644-21C1-DAA5957E6B14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C68F483A-5CDA-00A0-DF9F-84B3EB7D77B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6BCA2-A20C-37B3-07EE-6F082BF6D202}"/>
              </a:ext>
            </a:extLst>
          </p:cNvPr>
          <p:cNvSpPr txBox="1"/>
          <p:nvPr/>
        </p:nvSpPr>
        <p:spPr>
          <a:xfrm>
            <a:off x="1143000" y="1694512"/>
            <a:ext cx="15621000" cy="260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2. Tuple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Tuples contain items separated by commas and enclosed in parentheses (()).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Values ​​stored in tuples can be accessed using the slice operators ( [ ] and [: ] ) with indices starting at 0 at the beginning of the tuple.</a:t>
            </a:r>
          </a:p>
        </p:txBody>
      </p:sp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F00BA371-BB8D-AFDB-B381-F546F56B6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201" y="4686300"/>
            <a:ext cx="7620598" cy="513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60195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072F57-73EF-6536-1A53-670424DF0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89BF5F-9CC0-8B27-0218-7569A265E6F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48DBE9-57B6-BD22-D3E2-E19C2E428B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1FD1F3C-DE50-7949-B132-C1F0676AE4C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537E3A3-522B-C647-D089-32948982C464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C83CBF8-FD91-FB77-3C31-EDDFB0C1A9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C261154-68C2-A86E-9B28-60B2B16579C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6AF1DAE-BDBA-C902-4267-8402F337AC9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1E9E62E-3CBE-CFA3-28A1-B2D19159966C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C9809A4C-5E39-E7D6-79F8-C883EB04A2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F664A1-A23D-1A5C-FCAD-819F15AF4DA4}"/>
              </a:ext>
            </a:extLst>
          </p:cNvPr>
          <p:cNvSpPr txBox="1"/>
          <p:nvPr/>
        </p:nvSpPr>
        <p:spPr>
          <a:xfrm>
            <a:off x="1142999" y="1534433"/>
            <a:ext cx="15621000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3. Dictionary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A dictionary contains items separated by commas and enclosed in curly brackets ({}).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Each item has two components – </a:t>
            </a:r>
            <a:r>
              <a:rPr lang="en-US" sz="2800" b="1" dirty="0">
                <a:latin typeface="Montserrat" panose="00000500000000000000" pitchFamily="2" charset="0"/>
              </a:rPr>
              <a:t>key and value.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Key identifies an item, and value stores the value of the item. Values ​​can be accessed by passing the key in square brackets ([]).</a:t>
            </a:r>
          </a:p>
        </p:txBody>
      </p:sp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E8C1A493-F03E-0E33-2424-38476F61E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5809039"/>
            <a:ext cx="7260671" cy="327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0263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CD2FA-3488-604D-FDC8-0719AD66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78E1A6-D06C-18A9-9361-F4B569C3D007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D8FE61F-F798-AA1F-9464-9DE9F5D229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DEDEDFF-1D95-750E-3B15-F8FAF717C5A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4CFD4F8-D8F2-52DE-11E9-7CE2BCE1BFDD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A68732-D539-81C6-6B5B-A2C2262A6B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771D5E1-D5CA-22B8-20DD-D840D6EBE7B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3BF6DC24-AE3F-AC37-8CE2-501FE84CD97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AE894C7-3E57-736E-8180-A303F4D24F0B}"/>
              </a:ext>
            </a:extLst>
          </p:cNvPr>
          <p:cNvSpPr txBox="1"/>
          <p:nvPr/>
        </p:nvSpPr>
        <p:spPr>
          <a:xfrm>
            <a:off x="751416" y="848382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Non-Primitive Data Types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26D349B2-8213-443B-86E1-C85D5B4DDF6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2492AA-613F-5881-4599-47E444A19ED3}"/>
              </a:ext>
            </a:extLst>
          </p:cNvPr>
          <p:cNvSpPr txBox="1"/>
          <p:nvPr/>
        </p:nvSpPr>
        <p:spPr>
          <a:xfrm>
            <a:off x="1142999" y="1534433"/>
            <a:ext cx="15621000" cy="260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4. Set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A set is a collection of values ​​separated by commas and enclosed in curly brackets ({}).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The set data type is irregular, mutable and does not support repetition of elements.</a:t>
            </a:r>
          </a:p>
        </p:txBody>
      </p:sp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E91FE977-54CF-5EF7-E889-022771A57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678969"/>
            <a:ext cx="7592310" cy="428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15627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A63E-E238-A784-CC39-AD8F826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>
            <a:extLst>
              <a:ext uri="{FF2B5EF4-FFF2-40B4-BE49-F238E27FC236}">
                <a16:creationId xmlns:a16="http://schemas.microsoft.com/office/drawing/2014/main" id="{61EFBE92-A2E0-33B0-EFDF-B1B88DF69D71}"/>
              </a:ext>
            </a:extLst>
          </p:cNvPr>
          <p:cNvGrpSpPr/>
          <p:nvPr/>
        </p:nvGrpSpPr>
        <p:grpSpPr>
          <a:xfrm>
            <a:off x="13955786" y="-254854"/>
            <a:ext cx="4632524" cy="10815226"/>
            <a:chOff x="0" y="0"/>
            <a:chExt cx="1220089" cy="284845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3893C04-2B34-5AE8-C362-3E900CC0D90C}"/>
                </a:ext>
              </a:extLst>
            </p:cNvPr>
            <p:cNvSpPr/>
            <p:nvPr/>
          </p:nvSpPr>
          <p:spPr>
            <a:xfrm>
              <a:off x="0" y="0"/>
              <a:ext cx="1220089" cy="2848455"/>
            </a:xfrm>
            <a:custGeom>
              <a:avLst/>
              <a:gdLst/>
              <a:ahLst/>
              <a:cxnLst/>
              <a:rect l="l" t="t" r="r" b="b"/>
              <a:pathLst>
                <a:path w="1220089" h="2848455">
                  <a:moveTo>
                    <a:pt x="0" y="0"/>
                  </a:moveTo>
                  <a:lnTo>
                    <a:pt x="1220089" y="0"/>
                  </a:lnTo>
                  <a:lnTo>
                    <a:pt x="1220089" y="2848455"/>
                  </a:lnTo>
                  <a:lnTo>
                    <a:pt x="0" y="2848455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4F2DC77-51DF-2F71-6EFF-A1FED23BF3D3}"/>
                </a:ext>
              </a:extLst>
            </p:cNvPr>
            <p:cNvSpPr txBox="1"/>
            <p:nvPr/>
          </p:nvSpPr>
          <p:spPr>
            <a:xfrm>
              <a:off x="0" y="-47625"/>
              <a:ext cx="1220089" cy="2896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F1D4F6D-52EE-E5DF-91C6-D1AB13163273}"/>
              </a:ext>
            </a:extLst>
          </p:cNvPr>
          <p:cNvSpPr/>
          <p:nvPr/>
        </p:nvSpPr>
        <p:spPr>
          <a:xfrm rot="-5400000">
            <a:off x="11952046" y="3265440"/>
            <a:ext cx="7715094" cy="3707614"/>
          </a:xfrm>
          <a:custGeom>
            <a:avLst/>
            <a:gdLst/>
            <a:ahLst/>
            <a:cxnLst/>
            <a:rect l="l" t="t" r="r" b="b"/>
            <a:pathLst>
              <a:path w="7715094" h="3707614">
                <a:moveTo>
                  <a:pt x="0" y="0"/>
                </a:moveTo>
                <a:lnTo>
                  <a:pt x="7715094" y="0"/>
                </a:lnTo>
                <a:lnTo>
                  <a:pt x="7715094" y="3707614"/>
                </a:lnTo>
                <a:lnTo>
                  <a:pt x="0" y="3707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5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BA659E-912F-6961-2A02-73C122C47F0B}"/>
              </a:ext>
            </a:extLst>
          </p:cNvPr>
          <p:cNvSpPr txBox="1"/>
          <p:nvPr/>
        </p:nvSpPr>
        <p:spPr>
          <a:xfrm>
            <a:off x="1311647" y="4214179"/>
            <a:ext cx="4967583" cy="7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42"/>
              </a:lnSpc>
              <a:spcBef>
                <a:spcPct val="0"/>
              </a:spcBef>
            </a:pPr>
            <a:r>
              <a:rPr lang="en-US" sz="5035" b="1" u="none" strike="noStrike" spc="181" dirty="0">
                <a:solidFill>
                  <a:srgbClr val="2A2E3A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Python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DA3F7F-7710-A985-4949-3AC167A9C3AE}"/>
              </a:ext>
            </a:extLst>
          </p:cNvPr>
          <p:cNvSpPr txBox="1"/>
          <p:nvPr/>
        </p:nvSpPr>
        <p:spPr>
          <a:xfrm>
            <a:off x="1259652" y="5143500"/>
            <a:ext cx="7655748" cy="2009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792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Type Conversion</a:t>
            </a:r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A2F665C2-E211-FAD5-9BBF-FFD1B092319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890C3495-0A0E-2BEC-E238-141AF3537E83}"/>
              </a:ext>
            </a:extLst>
          </p:cNvPr>
          <p:cNvSpPr txBox="1"/>
          <p:nvPr/>
        </p:nvSpPr>
        <p:spPr>
          <a:xfrm>
            <a:off x="14721159" y="4804810"/>
            <a:ext cx="2237609" cy="730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79"/>
              </a:lnSpc>
            </a:pPr>
            <a:r>
              <a:rPr lang="en-US" sz="10000" spc="9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31136555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5159-645F-46D5-5B90-0458AC35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F4E1F1-4E30-40C0-C0A0-2A280040D287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59A88A-E8B4-990A-C50E-93E407455020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BCCBB86-8080-3302-5A86-85DC40F75CF8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3A1502A-68C9-181A-1346-02DC670AAC5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E741E8-D580-544B-80A7-2437F09B5B7B}"/>
              </a:ext>
            </a:extLst>
          </p:cNvPr>
          <p:cNvSpPr txBox="1"/>
          <p:nvPr/>
        </p:nvSpPr>
        <p:spPr>
          <a:xfrm>
            <a:off x="17315322" y="9410922"/>
            <a:ext cx="670613" cy="68989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 lang="en-US" sz="1899" dirty="0">
              <a:solidFill>
                <a:srgbClr val="FDFDFD"/>
              </a:solidFill>
              <a:latin typeface="Open Sans Extra Bold"/>
              <a:ea typeface="Open Sans Extra Bold"/>
              <a:cs typeface="Open Sans Extra Bold"/>
              <a:sym typeface="Open Sans Extra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CA455AE-E68E-27F0-9B74-138AAFCFA42F}"/>
              </a:ext>
            </a:extLst>
          </p:cNvPr>
          <p:cNvSpPr txBox="1"/>
          <p:nvPr/>
        </p:nvSpPr>
        <p:spPr>
          <a:xfrm>
            <a:off x="3960448" y="1159182"/>
            <a:ext cx="9983428" cy="93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1"/>
              </a:lnSpc>
              <a:spcBef>
                <a:spcPct val="0"/>
              </a:spcBef>
            </a:pPr>
            <a:r>
              <a:rPr lang="en-US" sz="6000" b="1" u="none" strike="noStrike" spc="224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Data Type Conversion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360F7A-3DEF-7914-74DD-B8DBD64AB6D4}"/>
              </a:ext>
            </a:extLst>
          </p:cNvPr>
          <p:cNvSpPr txBox="1">
            <a:spLocks/>
          </p:cNvSpPr>
          <p:nvPr/>
        </p:nvSpPr>
        <p:spPr>
          <a:xfrm>
            <a:off x="931985" y="3615260"/>
            <a:ext cx="15574969" cy="5262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Data type conversion means changing one data type to another.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Python provides two types of conversion: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US" b="1" dirty="0">
                <a:latin typeface="Montserrat" panose="00000500000000000000" pitchFamily="2" charset="0"/>
              </a:rPr>
              <a:t>Implicit Conversion </a:t>
            </a:r>
            <a:r>
              <a:rPr lang="en-US" dirty="0">
                <a:latin typeface="Montserrat" panose="00000500000000000000" pitchFamily="2" charset="0"/>
              </a:rPr>
              <a:t>→ Python automatically changes the data type.</a:t>
            </a:r>
          </a:p>
          <a:p>
            <a:pPr marL="0" indent="0">
              <a:lnSpc>
                <a:spcPct val="150000"/>
              </a:lnSpc>
              <a:buFont typeface="Arial" pitchFamily="34" charset="0"/>
              <a:buNone/>
            </a:pPr>
            <a:r>
              <a:rPr lang="en-US" b="1" dirty="0">
                <a:latin typeface="Montserrat" panose="00000500000000000000" pitchFamily="2" charset="0"/>
              </a:rPr>
              <a:t>Explicit Conversion/Casting </a:t>
            </a:r>
            <a:r>
              <a:rPr lang="en-US" dirty="0">
                <a:latin typeface="Montserrat" panose="00000500000000000000" pitchFamily="2" charset="0"/>
              </a:rPr>
              <a:t>→ We have to use a specific function to convert data types.</a:t>
            </a:r>
            <a:endParaRPr lang="en-ID" dirty="0">
              <a:latin typeface="Montserrat" panose="00000500000000000000" pitchFamily="2" charset="0"/>
            </a:endParaRPr>
          </a:p>
        </p:txBody>
      </p:sp>
      <p:pic>
        <p:nvPicPr>
          <p:cNvPr id="14" name="Google Shape;77;p2">
            <a:extLst>
              <a:ext uri="{FF2B5EF4-FFF2-40B4-BE49-F238E27FC236}">
                <a16:creationId xmlns:a16="http://schemas.microsoft.com/office/drawing/2014/main" id="{DF6A921F-010F-CA98-5E9B-81A3214CC390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0337157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46269-29DF-B763-7AC9-A9A8337A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hlinkClick r:id="rId3"/>
            <a:extLst>
              <a:ext uri="{FF2B5EF4-FFF2-40B4-BE49-F238E27FC236}">
                <a16:creationId xmlns:a16="http://schemas.microsoft.com/office/drawing/2014/main" id="{438AA992-1898-AFCF-5EC2-B4A4BADF2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5782985"/>
            <a:ext cx="6312878" cy="3416696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E74B7E64-B8CD-D5B9-CFDF-DF0DB1E7715F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016D8D-68DE-15EF-AB1C-F78D7F39F5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6366A3-F6B9-C80D-09EE-B30B2DB4A62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12D5DF-53BA-0A83-1E01-1F62264FE42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B698EE8-0FCB-695A-E04B-31B8FDA1EE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048B151-B7BE-1F7D-3EB9-E5C826C7529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300C645-E94F-A3BD-B342-756343AA0C0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32E83D-5765-B668-8148-33623891064F}"/>
              </a:ext>
            </a:extLst>
          </p:cNvPr>
          <p:cNvSpPr txBox="1"/>
          <p:nvPr/>
        </p:nvSpPr>
        <p:spPr>
          <a:xfrm>
            <a:off x="941917" y="1571331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Implicit Conversion</a:t>
            </a:r>
          </a:p>
        </p:txBody>
      </p:sp>
      <p:pic>
        <p:nvPicPr>
          <p:cNvPr id="35" name="Google Shape;77;p2">
            <a:extLst>
              <a:ext uri="{FF2B5EF4-FFF2-40B4-BE49-F238E27FC236}">
                <a16:creationId xmlns:a16="http://schemas.microsoft.com/office/drawing/2014/main" id="{C4A94A63-4659-5197-C296-C3C2E300E11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8002" y="7447669"/>
            <a:ext cx="2620969" cy="26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6FC031-377D-F0FE-3F21-1DBF0574049A}"/>
              </a:ext>
            </a:extLst>
          </p:cNvPr>
          <p:cNvSpPr txBox="1"/>
          <p:nvPr/>
        </p:nvSpPr>
        <p:spPr>
          <a:xfrm>
            <a:off x="1333500" y="2257382"/>
            <a:ext cx="6248401" cy="195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Python automatically converts data types without losing information.</a:t>
            </a:r>
          </a:p>
        </p:txBody>
      </p:sp>
      <p:pic>
        <p:nvPicPr>
          <p:cNvPr id="10" name="Picture 9">
            <a:hlinkClick r:id="rId7"/>
            <a:extLst>
              <a:ext uri="{FF2B5EF4-FFF2-40B4-BE49-F238E27FC236}">
                <a16:creationId xmlns:a16="http://schemas.microsoft.com/office/drawing/2014/main" id="{370386AD-2DE1-BCF1-D82A-64E347B27E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3585"/>
          <a:stretch/>
        </p:blipFill>
        <p:spPr>
          <a:xfrm>
            <a:off x="9144000" y="1941224"/>
            <a:ext cx="5029200" cy="2590800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D43EB5DF-43F6-4AC3-CD41-66C3126EB22F}"/>
              </a:ext>
            </a:extLst>
          </p:cNvPr>
          <p:cNvSpPr txBox="1"/>
          <p:nvPr/>
        </p:nvSpPr>
        <p:spPr>
          <a:xfrm>
            <a:off x="941917" y="5405558"/>
            <a:ext cx="10602384" cy="619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81" lvl="1" algn="l">
              <a:lnSpc>
                <a:spcPts val="5280"/>
              </a:lnSpc>
              <a:spcBef>
                <a:spcPct val="0"/>
              </a:spcBef>
            </a:pPr>
            <a:r>
              <a:rPr lang="en-US" sz="4400" b="1" spc="145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Explicit Conversion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67504A-3627-C94F-9DE1-17585CCE990A}"/>
              </a:ext>
            </a:extLst>
          </p:cNvPr>
          <p:cNvSpPr txBox="1"/>
          <p:nvPr/>
        </p:nvSpPr>
        <p:spPr>
          <a:xfrm>
            <a:off x="1339362" y="6159996"/>
            <a:ext cx="6242539" cy="1312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Montserrat" panose="00000500000000000000" pitchFamily="2" charset="0"/>
              </a:rPr>
              <a:t>We can change data types with Python's built-in functions.</a:t>
            </a:r>
          </a:p>
        </p:txBody>
      </p:sp>
    </p:spTree>
    <p:extLst>
      <p:ext uri="{BB962C8B-B14F-4D97-AF65-F5344CB8AC3E}">
        <p14:creationId xmlns:p14="http://schemas.microsoft.com/office/powerpoint/2010/main" val="495915108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C02A-1274-6173-4B48-D03F674E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5B742D-710D-B337-1CBD-D3D657394865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4ABD8C-FE4A-A0F6-1EA3-EE75A5B143B0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6F3F4FB-2EB2-5D86-F571-2C378D6CF94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FFB0D20-39CC-2DE0-38D0-D4016741361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A2105-D023-7432-B579-1AF29A367FB7}"/>
              </a:ext>
            </a:extLst>
          </p:cNvPr>
          <p:cNvSpPr txBox="1"/>
          <p:nvPr/>
        </p:nvSpPr>
        <p:spPr>
          <a:xfrm>
            <a:off x="751417" y="4186831"/>
            <a:ext cx="16014230" cy="28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Next Topic: Data Exploration and Data Visualization</a:t>
            </a:r>
            <a:endParaRPr lang="en-US" sz="1800" dirty="0">
              <a:effectLst/>
              <a:latin typeface="Montserrat" panose="00000500000000000000" pitchFamily="2" charset="0"/>
              <a:ea typeface="MS Mincho" panose="02020609040205080304" pitchFamily="49" charset="-128"/>
            </a:endParaRPr>
          </a:p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endParaRPr lang="en-US" sz="6092" b="1" spc="20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242971259"/>
      </p:ext>
    </p:extLst>
  </p:cSld>
  <p:clrMapOvr>
    <a:masterClrMapping/>
  </p:clrMapOvr>
  <p:transition spd="slow">
    <p:cov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441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</a:rPr>
              <a:t>https://docs.python.org/3/tutorial/index.html</a:t>
            </a: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340175"/>
            <a:ext cx="18288000" cy="946825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946824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1902</TotalTime>
  <Words>1103</Words>
  <Application>Microsoft Office PowerPoint</Application>
  <PresentationFormat>Custom</PresentationFormat>
  <Paragraphs>213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Consolas</vt:lpstr>
      <vt:lpstr>Calibri</vt:lpstr>
      <vt:lpstr>Montserrat Classic Bold</vt:lpstr>
      <vt:lpstr>Aptos</vt:lpstr>
      <vt:lpstr>Courier New</vt:lpstr>
      <vt:lpstr>Montserrat</vt:lpstr>
      <vt:lpstr>Raleway</vt:lpstr>
      <vt:lpstr>Montserrat Classic</vt:lpstr>
      <vt:lpstr>Open Sans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23</cp:revision>
  <dcterms:created xsi:type="dcterms:W3CDTF">2006-08-16T00:00:00Z</dcterms:created>
  <dcterms:modified xsi:type="dcterms:W3CDTF">2025-03-02T09:13:01Z</dcterms:modified>
  <dc:identifier>DAGWy-tLfhM</dc:identifier>
</cp:coreProperties>
</file>